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1"/>
  </p:sldMasterIdLst>
  <p:notesMasterIdLst>
    <p:notesMasterId r:id="rId18"/>
  </p:notesMasterIdLst>
  <p:sldIdLst>
    <p:sldId id="349" r:id="rId2"/>
    <p:sldId id="333" r:id="rId3"/>
    <p:sldId id="335" r:id="rId4"/>
    <p:sldId id="307" r:id="rId5"/>
    <p:sldId id="347" r:id="rId6"/>
    <p:sldId id="348" r:id="rId7"/>
    <p:sldId id="336" r:id="rId8"/>
    <p:sldId id="334" r:id="rId9"/>
    <p:sldId id="339" r:id="rId10"/>
    <p:sldId id="340" r:id="rId11"/>
    <p:sldId id="342" r:id="rId12"/>
    <p:sldId id="343" r:id="rId13"/>
    <p:sldId id="344" r:id="rId14"/>
    <p:sldId id="341" r:id="rId15"/>
    <p:sldId id="345" r:id="rId16"/>
    <p:sldId id="34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34"/>
    <p:restoredTop sz="94568"/>
  </p:normalViewPr>
  <p:slideViewPr>
    <p:cSldViewPr snapToGrid="0">
      <p:cViewPr>
        <p:scale>
          <a:sx n="92" d="100"/>
          <a:sy n="92" d="100"/>
        </p:scale>
        <p:origin x="101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40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BCB77-06D6-334D-AA1B-4B3C1ABF4D58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33E5-06AB-C741-A847-1BF99E2B9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B782F-C198-3FA6-A619-E3342E05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531F1-E33D-689F-3AC9-156E42B13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60BD3-68F8-4D84-B2C9-D50C9EB20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46FDC-0DB0-02B1-6C2F-1E7B8F436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39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8B6FB-1E6C-F2D2-8326-D0EE9F8B1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A60C6-7DAE-51C0-322E-E0F92F7A3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D5A93-276D-949D-F13A-5390C7C9F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E4388-6EE7-5D6B-C20A-E039948A7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10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6DAD-742B-5052-FA81-85C1C383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CAC69-19DE-3C87-DA91-868368D7B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1318C-7764-E821-479C-BD9B517D2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62B5F-9F5C-23C8-16CC-B2BAE58BB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86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97F4-4A0D-37B3-F708-B3DA408A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89107-3168-9D26-48C8-CA6CB5389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AFB38-D882-A9BB-0AB0-5B4D0F9A6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A2A6E-15DD-771E-64BA-966AA7839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5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71A5B-5BEE-CB33-C1A7-9F3E3D79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F6C5C-6826-D444-3167-60D844229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CC71E-7FDC-C9EA-8B7F-69F2EDD43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8C5EF-9028-E1F2-F4F6-6C40E1B1F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439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BCF82-AE50-5BB1-73F2-D3270B66E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EF3EB-4C40-9C99-42CE-26E8D2F5B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CA559-6B3B-4417-7221-86FCAAE4F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1B3A8-35D2-1335-8F83-488C94DDE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87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8B8D1-5157-A815-9C47-02CB7B227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6C3A7-A1BB-D8B8-986F-DDD4E300A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CEE7B-90C7-BFF5-C9D2-2AA472DEE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DCBEE-24B2-C25D-7187-07EA6E0FB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11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B196E-4866-4BC5-A90F-EC718770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0848E-ED15-D3A3-074A-4BA82AD5B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2D700-F46C-B748-0163-93108C7D8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6876C-EEBC-88D3-54DA-64E6EBC02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81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DD8EA-538A-E34D-9040-C5188B545F58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9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53A8-A22E-C041-9240-C8CFA8BCF92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6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4B82-C688-0C4F-B317-818FCE638E16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5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B48B8-5E4E-6046-A923-8B7722D3B236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2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E5CC-574C-D144-9B07-8BB8D5E6275D}" type="datetime1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0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9700F-90FB-B649-9475-B68DEE4F6B55}" type="datetime1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40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158A-0AF3-064E-A137-061C77DC485B}" type="datetime1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9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085B-3D92-8A43-910E-42383052DD01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5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8CF12166-A0A2-AA4B-AB3C-2AA40725AF1E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8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1008A-EA0D-8447-83D8-C17775C0DB34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1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EC1D-8F14-EA4F-9FDE-A5BDD8D4DDDC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1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BE0D44B7-4368-F14A-81D2-149345E48EFC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698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dgene.or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0D24-6C85-4DC2-C013-93F974AA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5B76-7DCE-2BBF-0082-C550FA323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747" y="4990563"/>
            <a:ext cx="11206313" cy="928567"/>
          </a:xfrm>
        </p:spPr>
        <p:txBody>
          <a:bodyPr anchor="ctr">
            <a:normAutofit/>
          </a:bodyPr>
          <a:lstStyle/>
          <a:p>
            <a:r>
              <a:rPr lang="es-ES_tradnl" sz="3600" noProof="0" dirty="0"/>
              <a:t>Clonación de plásmidos: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61C59-E42D-47E5-1BBF-D01C1697B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747" y="5768853"/>
            <a:ext cx="11203841" cy="539804"/>
          </a:xfrm>
        </p:spPr>
        <p:txBody>
          <a:bodyPr anchor="t">
            <a:normAutofit/>
          </a:bodyPr>
          <a:lstStyle/>
          <a:p>
            <a:r>
              <a:rPr lang="es-ES_tradnl" dirty="0"/>
              <a:t>del diseño a experimentos</a:t>
            </a:r>
            <a:endParaRPr lang="es-ES_tradnl" noProof="0" dirty="0"/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CE53C4D9-3810-96A9-7568-253CAB9D8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00" b="23814"/>
          <a:stretch>
            <a:fillRect/>
          </a:stretch>
        </p:blipFill>
        <p:spPr>
          <a:xfrm>
            <a:off x="20" y="10"/>
            <a:ext cx="12191979" cy="4763159"/>
          </a:xfrm>
          <a:custGeom>
            <a:avLst/>
            <a:gdLst/>
            <a:ahLst/>
            <a:cxnLst/>
            <a:rect l="l" t="t" r="r" b="b"/>
            <a:pathLst>
              <a:path w="12191999" h="4763169">
                <a:moveTo>
                  <a:pt x="0" y="0"/>
                </a:moveTo>
                <a:lnTo>
                  <a:pt x="12191999" y="0"/>
                </a:lnTo>
                <a:lnTo>
                  <a:pt x="12191999" y="4083630"/>
                </a:lnTo>
                <a:cubicBezTo>
                  <a:pt x="12191999" y="4458929"/>
                  <a:pt x="11887759" y="4763169"/>
                  <a:pt x="11512459" y="4763169"/>
                </a:cubicBezTo>
                <a:lnTo>
                  <a:pt x="6172519" y="4763169"/>
                </a:lnTo>
                <a:lnTo>
                  <a:pt x="5997087" y="4763169"/>
                </a:lnTo>
                <a:lnTo>
                  <a:pt x="657146" y="4763169"/>
                </a:lnTo>
                <a:cubicBezTo>
                  <a:pt x="375671" y="4763169"/>
                  <a:pt x="134167" y="4592034"/>
                  <a:pt x="31007" y="4348137"/>
                </a:cubicBezTo>
                <a:lnTo>
                  <a:pt x="0" y="4248250"/>
                </a:lnTo>
                <a:close/>
              </a:path>
            </a:pathLst>
          </a:cu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D1F750C-823C-76FD-A908-7B19C962BA4E}"/>
              </a:ext>
            </a:extLst>
          </p:cNvPr>
          <p:cNvSpPr txBox="1">
            <a:spLocks/>
          </p:cNvSpPr>
          <p:nvPr/>
        </p:nvSpPr>
        <p:spPr>
          <a:xfrm>
            <a:off x="8416887" y="6318186"/>
            <a:ext cx="3696266" cy="5398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i="1" dirty="0"/>
              <a:t>18-22 de Septiembre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0662BE-F7C7-D3C1-A051-9652E529D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78" y="107033"/>
            <a:ext cx="2104964" cy="210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39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9FA8-D010-9FBF-4309-D5E2C0604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0A2191-2B94-8982-F771-9B0D9BFD85A3}"/>
              </a:ext>
            </a:extLst>
          </p:cNvPr>
          <p:cNvSpPr/>
          <p:nvPr/>
        </p:nvSpPr>
        <p:spPr>
          <a:xfrm>
            <a:off x="-199388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64A3A67-C198-0F81-108C-7157B7688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Otras formas de usar fluorescencia para seguir eventos</a:t>
            </a:r>
          </a:p>
        </p:txBody>
      </p:sp>
      <p:pic>
        <p:nvPicPr>
          <p:cNvPr id="12" name="Picture 11" descr="Review: Engineering in situ biosensors for tracking cellular events -  ScienceDirect">
            <a:extLst>
              <a:ext uri="{FF2B5EF4-FFF2-40B4-BE49-F238E27FC236}">
                <a16:creationId xmlns:a16="http://schemas.microsoft.com/office/drawing/2014/main" id="{89E457E4-9AA4-5E44-98BC-C3FA54EBD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091" y="1227122"/>
            <a:ext cx="8451817" cy="54050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2484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4268-2DD8-DD71-86CB-3AA3B261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3CA6-3711-F178-7B4A-9B520797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#9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0A43A-4F4C-D105-4F02-560ACF64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3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207965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A7EE5-5473-8E8E-4FCA-DC4B0DEC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1AC4A1-CEED-0875-C02D-79EAB2060BEA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AB8F9BA-18F3-63B2-09CB-E20EF883A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Variedad de vectores y tipos de plásmidos en </a:t>
            </a:r>
            <a:r>
              <a:rPr lang="es-ES_tradnl" sz="3200" noProof="0" dirty="0" err="1"/>
              <a:t>AddGene</a:t>
            </a:r>
            <a:endParaRPr lang="es-ES_tradnl" sz="32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E75BD-48FC-97FF-2DDC-4D04EB8A4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34" y="2040674"/>
            <a:ext cx="6123772" cy="3147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80BE49-8336-A680-D79C-AF55EDD00D39}"/>
              </a:ext>
            </a:extLst>
          </p:cNvPr>
          <p:cNvSpPr txBox="1"/>
          <p:nvPr/>
        </p:nvSpPr>
        <p:spPr>
          <a:xfrm>
            <a:off x="1820436" y="5462879"/>
            <a:ext cx="2941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3"/>
              </a:rPr>
              <a:t>https://www.addgene.org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C8AEBC23-B227-80E9-F101-62E00D3A7339}"/>
              </a:ext>
            </a:extLst>
          </p:cNvPr>
          <p:cNvSpPr/>
          <p:nvPr/>
        </p:nvSpPr>
        <p:spPr>
          <a:xfrm>
            <a:off x="6778403" y="1580374"/>
            <a:ext cx="5319133" cy="3980985"/>
          </a:xfrm>
          <a:prstGeom prst="snip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B72B401-515A-6833-FDD0-576A7FCFC5CF}"/>
              </a:ext>
            </a:extLst>
          </p:cNvPr>
          <p:cNvSpPr txBox="1">
            <a:spLocks/>
          </p:cNvSpPr>
          <p:nvPr/>
        </p:nvSpPr>
        <p:spPr>
          <a:xfrm>
            <a:off x="7038597" y="1957086"/>
            <a:ext cx="5319133" cy="4376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accent4"/>
                </a:solidFill>
              </a:rPr>
              <a:t>Repositorio y venta de plásmidos:</a:t>
            </a:r>
          </a:p>
          <a:p>
            <a:endParaRPr lang="es-ES_tradnl" b="1" dirty="0">
              <a:solidFill>
                <a:schemeClr val="accent4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81C6E2B-119B-F0DD-FF58-870DD54566B6}"/>
              </a:ext>
            </a:extLst>
          </p:cNvPr>
          <p:cNvSpPr txBox="1">
            <a:spLocks/>
          </p:cNvSpPr>
          <p:nvPr/>
        </p:nvSpPr>
        <p:spPr>
          <a:xfrm>
            <a:off x="7324812" y="2949479"/>
            <a:ext cx="4289725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Contribuciones de todo el mundo</a:t>
            </a:r>
          </a:p>
          <a:p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145F872-1964-0FAE-D5FC-4AF37BBA770E}"/>
              </a:ext>
            </a:extLst>
          </p:cNvPr>
          <p:cNvSpPr txBox="1">
            <a:spLocks/>
          </p:cNvSpPr>
          <p:nvPr/>
        </p:nvSpPr>
        <p:spPr>
          <a:xfrm>
            <a:off x="7324811" y="3430604"/>
            <a:ext cx="5319133" cy="4376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Respaldados por publicaciones e investigaciones</a:t>
            </a:r>
          </a:p>
          <a:p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D2865E9-7930-E1D5-3274-90E6E9930C55}"/>
              </a:ext>
            </a:extLst>
          </p:cNvPr>
          <p:cNvSpPr txBox="1">
            <a:spLocks/>
          </p:cNvSpPr>
          <p:nvPr/>
        </p:nvSpPr>
        <p:spPr>
          <a:xfrm>
            <a:off x="7324812" y="3911729"/>
            <a:ext cx="4772724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Fomenta la cooperación en la comunidad científica</a:t>
            </a:r>
          </a:p>
          <a:p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0069223-0838-124E-61BF-8C0B3A81265D}"/>
              </a:ext>
            </a:extLst>
          </p:cNvPr>
          <p:cNvSpPr txBox="1">
            <a:spLocks/>
          </p:cNvSpPr>
          <p:nvPr/>
        </p:nvSpPr>
        <p:spPr>
          <a:xfrm>
            <a:off x="7324811" y="4392854"/>
            <a:ext cx="4482792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Permite ocupar el trabajo de otro como base</a:t>
            </a:r>
          </a:p>
          <a:p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CFA16D2-F7A8-89C3-2460-A4D4352BF907}"/>
              </a:ext>
            </a:extLst>
          </p:cNvPr>
          <p:cNvSpPr txBox="1">
            <a:spLocks/>
          </p:cNvSpPr>
          <p:nvPr/>
        </p:nvSpPr>
        <p:spPr>
          <a:xfrm>
            <a:off x="7324811" y="4894426"/>
            <a:ext cx="4482792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Gran fuente de recursos educativos</a:t>
            </a:r>
          </a:p>
        </p:txBody>
      </p:sp>
    </p:spTree>
    <p:extLst>
      <p:ext uri="{BB962C8B-B14F-4D97-AF65-F5344CB8AC3E}">
        <p14:creationId xmlns:p14="http://schemas.microsoft.com/office/powerpoint/2010/main" val="4245965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BFF39-5F56-4800-3AFA-4D54B302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32923E-E637-D7CA-C703-51FB21FF9583}"/>
              </a:ext>
            </a:extLst>
          </p:cNvPr>
          <p:cNvSpPr/>
          <p:nvPr/>
        </p:nvSpPr>
        <p:spPr>
          <a:xfrm>
            <a:off x="-128376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2026-09-15 at 05.52.37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32A37F-7AB4-D37F-2BDE-840A14FDD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Ca2+, Células musculares, Salud Cardiaca</a:t>
            </a:r>
          </a:p>
        </p:txBody>
      </p:sp>
      <p:pic>
        <p:nvPicPr>
          <p:cNvPr id="5" name="Picture 4" descr="Calcio, canales, señalización intracelular y autoinmunidad | Reumatología  Clínica">
            <a:extLst>
              <a:ext uri="{FF2B5EF4-FFF2-40B4-BE49-F238E27FC236}">
                <a16:creationId xmlns:a16="http://schemas.microsoft.com/office/drawing/2014/main" id="{1E64E6FD-3D21-175F-AAD0-2E5F33AA7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999" y="1153610"/>
            <a:ext cx="9394972" cy="567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57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3E69-69BE-EBA0-85C2-EF718E27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1E4321-2A00-3C25-5E1A-7D781A1C0938}"/>
              </a:ext>
            </a:extLst>
          </p:cNvPr>
          <p:cNvSpPr/>
          <p:nvPr/>
        </p:nvSpPr>
        <p:spPr>
          <a:xfrm>
            <a:off x="-128376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2026-09-15 at 05.52.37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A88812-8CD2-6604-C440-11B441986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A manera de resumen…</a:t>
            </a:r>
          </a:p>
        </p:txBody>
      </p:sp>
      <p:pic>
        <p:nvPicPr>
          <p:cNvPr id="3" name="Picture 2" descr="Ciencia al Día Internacional - Artículo 1 Biología">
            <a:extLst>
              <a:ext uri="{FF2B5EF4-FFF2-40B4-BE49-F238E27FC236}">
                <a16:creationId xmlns:a16="http://schemas.microsoft.com/office/drawing/2014/main" id="{EE6C5D27-10E9-47FB-0C5F-ED7CCCAD6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208" y="1389402"/>
            <a:ext cx="8199583" cy="495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71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B375F-0364-BCE2-71E4-20308244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306A83E-366D-73F5-956F-3F992C458264}"/>
              </a:ext>
            </a:extLst>
          </p:cNvPr>
          <p:cNvSpPr/>
          <p:nvPr/>
        </p:nvSpPr>
        <p:spPr>
          <a:xfrm>
            <a:off x="-128376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2026-09-15 at 05.52.37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93563B-A30C-23B3-0664-F65AE363C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Ejercicio de </a:t>
            </a:r>
            <a:r>
              <a:rPr lang="es-ES_tradnl" sz="3200" noProof="0" dirty="0" err="1"/>
              <a:t>AddGene</a:t>
            </a:r>
            <a:endParaRPr lang="es-ES_tradnl" sz="3200" noProof="0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A7BB1DE-6309-D0CC-7B7A-C32397AE4A1C}"/>
              </a:ext>
            </a:extLst>
          </p:cNvPr>
          <p:cNvSpPr txBox="1">
            <a:spLocks/>
          </p:cNvSpPr>
          <p:nvPr/>
        </p:nvSpPr>
        <p:spPr>
          <a:xfrm>
            <a:off x="2678262" y="2054001"/>
            <a:ext cx="1360713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Guia del día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4842F-A4DB-E497-C631-97BE951D8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95" y="2898293"/>
            <a:ext cx="5665675" cy="269088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125BD4-EBF5-D5EE-9F85-DF3C45211308}"/>
              </a:ext>
            </a:extLst>
          </p:cNvPr>
          <p:cNvCxnSpPr>
            <a:cxnSpLocks/>
          </p:cNvCxnSpPr>
          <p:nvPr/>
        </p:nvCxnSpPr>
        <p:spPr>
          <a:xfrm flipH="1">
            <a:off x="1754765" y="2304919"/>
            <a:ext cx="1360713" cy="107952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D6CCCAA-D2D0-5EF8-F534-258CB9EC5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47236"/>
            <a:ext cx="5925034" cy="545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3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5F85-0376-2127-4A8A-60BDE909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6388AF5-FD3E-6FF8-53AA-FB22D59AB96D}"/>
              </a:ext>
            </a:extLst>
          </p:cNvPr>
          <p:cNvSpPr/>
          <p:nvPr/>
        </p:nvSpPr>
        <p:spPr>
          <a:xfrm>
            <a:off x="-128376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2026-09-15 at 05.52.37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6E6F40-D9DB-E24B-54A2-2987AE1ED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Ejercicio </a:t>
            </a:r>
            <a:r>
              <a:rPr lang="es-ES_tradnl" sz="3200" noProof="0" dirty="0" err="1"/>
              <a:t>AddGene</a:t>
            </a:r>
            <a:r>
              <a:rPr lang="es-ES_tradnl" sz="3200" noProof="0" dirty="0"/>
              <a:t> y plásmidos biosensores</a:t>
            </a:r>
          </a:p>
        </p:txBody>
      </p:sp>
      <p:pic>
        <p:nvPicPr>
          <p:cNvPr id="3" name="Picture 2" descr="Targeting Plasma Membrane Ca2+-ATPases in Cancer: Current Insights and  Future Perspectives">
            <a:extLst>
              <a:ext uri="{FF2B5EF4-FFF2-40B4-BE49-F238E27FC236}">
                <a16:creationId xmlns:a16="http://schemas.microsoft.com/office/drawing/2014/main" id="{F41B253E-3601-7ECA-2678-4E31E6ACE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334" y="1156921"/>
            <a:ext cx="9669991" cy="544218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064D0A-A012-3247-696A-08528965FF80}"/>
              </a:ext>
            </a:extLst>
          </p:cNvPr>
          <p:cNvSpPr/>
          <p:nvPr/>
        </p:nvSpPr>
        <p:spPr>
          <a:xfrm>
            <a:off x="5943600" y="960098"/>
            <a:ext cx="5264727" cy="5866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8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9B8AE-DCFA-DC0F-3D2B-784B0164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38D1-7EB6-C645-7074-2ED96525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#10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1DE9A-635C-107A-3767-D9153451D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9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756713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EB2F-6979-C8DC-DED5-0284447D0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58C7763-A88D-2165-5E0B-586880CE24ED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CBC0CA-B411-F445-3F43-9E0A975CD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Purificando proteínas recombinantes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853545-3CEE-7F1B-0ED9-7018282E7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4" r="65610"/>
          <a:stretch>
            <a:fillRect/>
          </a:stretch>
        </p:blipFill>
        <p:spPr>
          <a:xfrm>
            <a:off x="215746" y="1467580"/>
            <a:ext cx="2968128" cy="5361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4A87BE-6832-7D20-1727-8E7C7EE958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3176"/>
          <a:stretch>
            <a:fillRect/>
          </a:stretch>
        </p:blipFill>
        <p:spPr>
          <a:xfrm>
            <a:off x="2141989" y="1072604"/>
            <a:ext cx="8630798" cy="3926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8ED002-E52F-C1F8-E285-B3FA44B33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977" y="1644183"/>
            <a:ext cx="5766646" cy="94829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35FB3FC-283C-69E0-217F-EDC598D7EAFB}"/>
              </a:ext>
            </a:extLst>
          </p:cNvPr>
          <p:cNvGrpSpPr/>
          <p:nvPr/>
        </p:nvGrpSpPr>
        <p:grpSpPr>
          <a:xfrm>
            <a:off x="5516367" y="2181155"/>
            <a:ext cx="822641" cy="1629026"/>
            <a:chOff x="5520531" y="2519166"/>
            <a:chExt cx="822641" cy="162902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8CC9447-CEEA-1648-B708-A08DE9097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EFFFE"/>
                </a:clrFrom>
                <a:clrTo>
                  <a:srgbClr val="FEFF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0">
              <a:off x="5520531" y="2519166"/>
              <a:ext cx="822641" cy="822641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9E8296-7A6C-3E91-06D5-B2E14C640321}"/>
                </a:ext>
              </a:extLst>
            </p:cNvPr>
            <p:cNvCxnSpPr>
              <a:cxnSpLocks/>
            </p:cNvCxnSpPr>
            <p:nvPr/>
          </p:nvCxnSpPr>
          <p:spPr>
            <a:xfrm>
              <a:off x="5931851" y="3193256"/>
              <a:ext cx="0" cy="954936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8991CD30-5D68-8A2F-0612-C5213BB61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141" y="4187531"/>
            <a:ext cx="5766646" cy="948293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C8F6795-3EF6-9A3B-0C69-FBD554C8EBF1}"/>
              </a:ext>
            </a:extLst>
          </p:cNvPr>
          <p:cNvGrpSpPr/>
          <p:nvPr/>
        </p:nvGrpSpPr>
        <p:grpSpPr>
          <a:xfrm rot="5400000">
            <a:off x="5517067" y="5592508"/>
            <a:ext cx="822641" cy="1629026"/>
            <a:chOff x="5517067" y="5592508"/>
            <a:chExt cx="822641" cy="162902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7A1639E-A27A-D6D8-C1E8-89B286339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EFFFE"/>
                </a:clrFrom>
                <a:clrTo>
                  <a:srgbClr val="FEFF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0">
              <a:off x="5517067" y="5592508"/>
              <a:ext cx="822641" cy="822641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7C8DB50-5F81-1D6E-E215-A297FF5B87F6}"/>
                </a:ext>
              </a:extLst>
            </p:cNvPr>
            <p:cNvCxnSpPr>
              <a:cxnSpLocks/>
            </p:cNvCxnSpPr>
            <p:nvPr/>
          </p:nvCxnSpPr>
          <p:spPr>
            <a:xfrm>
              <a:off x="5928387" y="6266598"/>
              <a:ext cx="0" cy="954936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 descr="Imidazol CAS: 288-32-4 | insst.es">
            <a:extLst>
              <a:ext uri="{FF2B5EF4-FFF2-40B4-BE49-F238E27FC236}">
                <a16:creationId xmlns:a16="http://schemas.microsoft.com/office/drawing/2014/main" id="{46C7C170-AFBF-26EB-997A-61B63D95DA8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24346" y="5916642"/>
            <a:ext cx="901700" cy="901700"/>
          </a:xfrm>
          <a:prstGeom prst="rect">
            <a:avLst/>
          </a:prstGeom>
        </p:spPr>
      </p:pic>
      <p:sp>
        <p:nvSpPr>
          <p:cNvPr id="29" name="Subtitle 2">
            <a:extLst>
              <a:ext uri="{FF2B5EF4-FFF2-40B4-BE49-F238E27FC236}">
                <a16:creationId xmlns:a16="http://schemas.microsoft.com/office/drawing/2014/main" id="{EF802E14-B299-10E2-A541-345879164A55}"/>
              </a:ext>
            </a:extLst>
          </p:cNvPr>
          <p:cNvSpPr txBox="1">
            <a:spLocks/>
          </p:cNvSpPr>
          <p:nvPr/>
        </p:nvSpPr>
        <p:spPr>
          <a:xfrm>
            <a:off x="7246987" y="6213039"/>
            <a:ext cx="4664927" cy="4844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 err="1">
                <a:solidFill>
                  <a:schemeClr val="bg1"/>
                </a:solidFill>
              </a:rPr>
              <a:t>Imidazole</a:t>
            </a:r>
            <a:endParaRPr lang="es-ES_tradnl" sz="14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Nickel - Energy Education">
            <a:extLst>
              <a:ext uri="{FF2B5EF4-FFF2-40B4-BE49-F238E27FC236}">
                <a16:creationId xmlns:a16="http://schemas.microsoft.com/office/drawing/2014/main" id="{1198BEF3-8F78-1414-1CA2-BD31572792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958" y="2459746"/>
            <a:ext cx="540447" cy="544050"/>
          </a:xfrm>
          <a:prstGeom prst="rect">
            <a:avLst/>
          </a:prstGeom>
        </p:spPr>
      </p:pic>
      <p:pic>
        <p:nvPicPr>
          <p:cNvPr id="7" name="Picture 6" descr="Nickel - Energy Education">
            <a:extLst>
              <a:ext uri="{FF2B5EF4-FFF2-40B4-BE49-F238E27FC236}">
                <a16:creationId xmlns:a16="http://schemas.microsoft.com/office/drawing/2014/main" id="{BA948685-C3B7-A70B-D8B6-7942E306E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8811" y="5547144"/>
            <a:ext cx="540447" cy="54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11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BC48-E48A-90DB-1684-ADDFE706D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6D91D34-4DFA-B284-2000-4A613F34D14D}"/>
              </a:ext>
            </a:extLst>
          </p:cNvPr>
          <p:cNvSpPr/>
          <p:nvPr/>
        </p:nvSpPr>
        <p:spPr>
          <a:xfrm>
            <a:off x="-217678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47811E-8C9F-4E28-E2BB-A3BB9E99F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Purificando proteínas recombinantes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FC5E2D-7B28-7F8A-8C67-49086DE5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90" t="6824" r="34209"/>
          <a:stretch>
            <a:fillRect/>
          </a:stretch>
        </p:blipFill>
        <p:spPr>
          <a:xfrm>
            <a:off x="330501" y="1465244"/>
            <a:ext cx="2710149" cy="5361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2B2610-A807-8A04-8675-BF6A5159B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3176"/>
          <a:stretch>
            <a:fillRect/>
          </a:stretch>
        </p:blipFill>
        <p:spPr>
          <a:xfrm>
            <a:off x="2141989" y="1072604"/>
            <a:ext cx="8630798" cy="392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9BB182-0E18-3938-CF04-ACF201E6B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141" y="1688626"/>
            <a:ext cx="5766646" cy="94829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9A71562-E9D6-F675-5EF8-0C644438592C}"/>
              </a:ext>
            </a:extLst>
          </p:cNvPr>
          <p:cNvGrpSpPr/>
          <p:nvPr/>
        </p:nvGrpSpPr>
        <p:grpSpPr>
          <a:xfrm>
            <a:off x="6641386" y="2223262"/>
            <a:ext cx="822641" cy="1629026"/>
            <a:chOff x="5520531" y="2519166"/>
            <a:chExt cx="822641" cy="162902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19CEC9-FFBC-EF27-03C2-F5FF7E81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EFFFE"/>
                </a:clrFrom>
                <a:clrTo>
                  <a:srgbClr val="FEFF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0">
              <a:off x="5520531" y="2519166"/>
              <a:ext cx="822641" cy="82264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C70A564-F1EC-17B0-E871-1F7DFACBF00C}"/>
                </a:ext>
              </a:extLst>
            </p:cNvPr>
            <p:cNvCxnSpPr>
              <a:cxnSpLocks/>
            </p:cNvCxnSpPr>
            <p:nvPr/>
          </p:nvCxnSpPr>
          <p:spPr>
            <a:xfrm>
              <a:off x="5931851" y="3193256"/>
              <a:ext cx="0" cy="954936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 descr="Glutathione Impurity C Pharmaceutical Secondary Standard; Certified  Reference Material 27025-41-8">
            <a:extLst>
              <a:ext uri="{FF2B5EF4-FFF2-40B4-BE49-F238E27FC236}">
                <a16:creationId xmlns:a16="http://schemas.microsoft.com/office/drawing/2014/main" id="{A0783159-0852-3CE5-6F0F-B36FB3925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555" y="2643888"/>
            <a:ext cx="1948851" cy="1254573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05FB64B3-C9BB-8CB4-45D4-292855AD5D58}"/>
              </a:ext>
            </a:extLst>
          </p:cNvPr>
          <p:cNvSpPr txBox="1">
            <a:spLocks/>
          </p:cNvSpPr>
          <p:nvPr/>
        </p:nvSpPr>
        <p:spPr>
          <a:xfrm>
            <a:off x="9235254" y="3081023"/>
            <a:ext cx="1537533" cy="4844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Glutatión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8E68AE-E953-672F-76CA-DA9990C71432}"/>
              </a:ext>
            </a:extLst>
          </p:cNvPr>
          <p:cNvSpPr/>
          <p:nvPr/>
        </p:nvSpPr>
        <p:spPr>
          <a:xfrm>
            <a:off x="1596325" y="3898462"/>
            <a:ext cx="1332855" cy="14377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2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A22F-E95F-0408-6018-5453048D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D161C67-3568-6F8F-6102-D3680E1FDCD9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C9195DC-12BD-DA0D-AB47-FD87D5C95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Purificando proteínas recombinantes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3318D2-F9D9-D87A-EED1-BE1C6EA3B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493" t="6824"/>
          <a:stretch>
            <a:fillRect/>
          </a:stretch>
        </p:blipFill>
        <p:spPr>
          <a:xfrm>
            <a:off x="323149" y="1465244"/>
            <a:ext cx="2805629" cy="5361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86752C-6E21-1584-807D-949E3F239B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3176"/>
          <a:stretch>
            <a:fillRect/>
          </a:stretch>
        </p:blipFill>
        <p:spPr>
          <a:xfrm>
            <a:off x="2141989" y="1072604"/>
            <a:ext cx="8630798" cy="392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B2AFE5-7240-FF24-B8AE-3CBFD2CBA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038" y="1858200"/>
            <a:ext cx="5766646" cy="94829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8A61493-6DE0-225B-A1C7-1854BAB5BFAA}"/>
              </a:ext>
            </a:extLst>
          </p:cNvPr>
          <p:cNvGrpSpPr/>
          <p:nvPr/>
        </p:nvGrpSpPr>
        <p:grpSpPr>
          <a:xfrm>
            <a:off x="6638283" y="2392836"/>
            <a:ext cx="822641" cy="1629026"/>
            <a:chOff x="5520531" y="2519166"/>
            <a:chExt cx="822641" cy="162902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4B96827-E5DA-E471-5585-1EDAB6A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EFFFE"/>
                </a:clrFrom>
                <a:clrTo>
                  <a:srgbClr val="FEFF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0">
              <a:off x="5520531" y="2519166"/>
              <a:ext cx="822641" cy="82264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4D60C58-1876-4EE0-FDE2-16DCA01CB054}"/>
                </a:ext>
              </a:extLst>
            </p:cNvPr>
            <p:cNvCxnSpPr>
              <a:cxnSpLocks/>
            </p:cNvCxnSpPr>
            <p:nvPr/>
          </p:nvCxnSpPr>
          <p:spPr>
            <a:xfrm>
              <a:off x="5931851" y="3193256"/>
              <a:ext cx="0" cy="954936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 descr="Glutathione Impurity C Pharmaceutical Secondary Standard; Certified  Reference Material 27025-41-8">
            <a:extLst>
              <a:ext uri="{FF2B5EF4-FFF2-40B4-BE49-F238E27FC236}">
                <a16:creationId xmlns:a16="http://schemas.microsoft.com/office/drawing/2014/main" id="{6CE485E6-F263-4BA9-F224-91B00FBA1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86" y="2865541"/>
            <a:ext cx="1948851" cy="1254573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A3DFF5B3-99CF-6AD9-E13B-B5E04D77828F}"/>
              </a:ext>
            </a:extLst>
          </p:cNvPr>
          <p:cNvSpPr txBox="1">
            <a:spLocks/>
          </p:cNvSpPr>
          <p:nvPr/>
        </p:nvSpPr>
        <p:spPr>
          <a:xfrm>
            <a:off x="4919855" y="4254568"/>
            <a:ext cx="1537533" cy="4844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Glutatión</a:t>
            </a:r>
          </a:p>
        </p:txBody>
      </p:sp>
      <p:pic>
        <p:nvPicPr>
          <p:cNvPr id="11" name="Picture 10" descr="Scissor - Free interface icons">
            <a:extLst>
              <a:ext uri="{FF2B5EF4-FFF2-40B4-BE49-F238E27FC236}">
                <a16:creationId xmlns:a16="http://schemas.microsoft.com/office/drawing/2014/main" id="{3D3E40C8-35D8-021D-D809-A3B11F7B5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844017">
            <a:off x="8079075" y="2883227"/>
            <a:ext cx="1219200" cy="12192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819110-CC39-FD4E-201A-D9AC7E7CB3AE}"/>
              </a:ext>
            </a:extLst>
          </p:cNvPr>
          <p:cNvCxnSpPr>
            <a:cxnSpLocks/>
          </p:cNvCxnSpPr>
          <p:nvPr/>
        </p:nvCxnSpPr>
        <p:spPr>
          <a:xfrm flipV="1">
            <a:off x="8645235" y="1717964"/>
            <a:ext cx="0" cy="1100047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483E06D0-61F0-CADE-BED6-4B6A307049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7388" y="4922982"/>
            <a:ext cx="2805629" cy="101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1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4CDD3-DF8B-64F5-AA19-D48584DE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6498DAD-62CB-5D86-EF23-8E929AAFDA35}"/>
              </a:ext>
            </a:extLst>
          </p:cNvPr>
          <p:cNvSpPr/>
          <p:nvPr/>
        </p:nvSpPr>
        <p:spPr>
          <a:xfrm>
            <a:off x="-128376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2026-09-15 at 05.52.37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B41B6A-0D5A-75C2-C0BA-65AF3BD06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Ejercicio de Ensamblaje de Múltiples Fragmentos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34B2D-71B1-D505-29F8-4F5274669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824" y="2074378"/>
            <a:ext cx="7205322" cy="338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21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2F6-A0C7-D8D1-684C-38D66053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9952124-FEA6-1B50-EEDE-3AB1F2E61B5D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B1C8F6-CDEB-F7C2-410A-F694BA2E5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Purificando proteínas recombinantes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9C247-E0DD-9AEB-CE33-793F3D272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269" y="3261975"/>
            <a:ext cx="2805629" cy="101772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A7AEC03-F1DF-05F6-BDDE-B3B4C472BB16}"/>
              </a:ext>
            </a:extLst>
          </p:cNvPr>
          <p:cNvSpPr txBox="1">
            <a:spLocks/>
          </p:cNvSpPr>
          <p:nvPr/>
        </p:nvSpPr>
        <p:spPr>
          <a:xfrm>
            <a:off x="5757764" y="1926808"/>
            <a:ext cx="5492128" cy="4844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rgbClr val="0070C0"/>
                </a:solidFill>
              </a:rPr>
              <a:t>Podemos purificar de la misma forma: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6C603F0-27D3-D987-4F7A-8408210C57FE}"/>
              </a:ext>
            </a:extLst>
          </p:cNvPr>
          <p:cNvSpPr txBox="1">
            <a:spLocks/>
          </p:cNvSpPr>
          <p:nvPr/>
        </p:nvSpPr>
        <p:spPr>
          <a:xfrm>
            <a:off x="6339655" y="3186768"/>
            <a:ext cx="3691037" cy="484463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dirty="0">
                <a:solidFill>
                  <a:schemeClr val="bg1"/>
                </a:solidFill>
              </a:rPr>
              <a:t>Formas truncadas</a:t>
            </a:r>
          </a:p>
          <a:p>
            <a:pPr algn="ctr"/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5ECD629-0BAA-5145-FAEC-0751F0C97E8E}"/>
              </a:ext>
            </a:extLst>
          </p:cNvPr>
          <p:cNvSpPr txBox="1">
            <a:spLocks/>
          </p:cNvSpPr>
          <p:nvPr/>
        </p:nvSpPr>
        <p:spPr>
          <a:xfrm>
            <a:off x="6339655" y="4015192"/>
            <a:ext cx="3691037" cy="484463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dirty="0">
                <a:solidFill>
                  <a:schemeClr val="bg1"/>
                </a:solidFill>
              </a:rPr>
              <a:t>Proteínas mutantes</a:t>
            </a:r>
          </a:p>
          <a:p>
            <a:pPr algn="ctr"/>
            <a:endParaRPr lang="es-ES_trad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626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DC93F-E1FA-32CE-3125-F64E2522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6A6E6-43DE-3572-5554-B8A059BD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#11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F6C55-43D4-3E09-3E80-23197987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15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2010007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9ADAE-DD29-BBE4-A828-2FFFDC63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4840F66-6C90-7340-1841-6D5B04EE38EB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EFDE7F0-9B1F-53B1-3B58-DBB7E3737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Purificando proteínas recombinantes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6BC2B2-C7EE-EC56-246A-45CB2BC15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55" y="1530998"/>
            <a:ext cx="6123962" cy="41840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A9C7F4-2D5A-8F2E-A8EA-A1D3FE658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53" y="1318731"/>
            <a:ext cx="6008255" cy="4608605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248DB69-7EAD-B152-3961-47377F744B37}"/>
              </a:ext>
            </a:extLst>
          </p:cNvPr>
          <p:cNvSpPr txBox="1">
            <a:spLocks/>
          </p:cNvSpPr>
          <p:nvPr/>
        </p:nvSpPr>
        <p:spPr>
          <a:xfrm>
            <a:off x="2030891" y="5927336"/>
            <a:ext cx="8955764" cy="4844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bg1"/>
                </a:solidFill>
              </a:rPr>
              <a:t>¿Cual crees que es el beneficio de saber donde interactúa NS1A con el ARN?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D5BD32D-0495-99BC-F670-CF796361E5ED}"/>
              </a:ext>
            </a:extLst>
          </p:cNvPr>
          <p:cNvSpPr txBox="1">
            <a:spLocks/>
          </p:cNvSpPr>
          <p:nvPr/>
        </p:nvSpPr>
        <p:spPr>
          <a:xfrm>
            <a:off x="3605753" y="1064764"/>
            <a:ext cx="5492128" cy="4844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rgbClr val="0070C0"/>
                </a:solidFill>
              </a:rPr>
              <a:t>Estructura de NS1A(RBD) en complejo con ARN</a:t>
            </a:r>
          </a:p>
        </p:txBody>
      </p:sp>
    </p:spTree>
    <p:extLst>
      <p:ext uri="{BB962C8B-B14F-4D97-AF65-F5344CB8AC3E}">
        <p14:creationId xmlns:p14="http://schemas.microsoft.com/office/powerpoint/2010/main" val="22300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10968</TotalTime>
  <Words>197</Words>
  <Application>Microsoft Macintosh PowerPoint</Application>
  <PresentationFormat>Widescreen</PresentationFormat>
  <Paragraphs>50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Neue Haas Grotesk Text Pro</vt:lpstr>
      <vt:lpstr>DylanVTI</vt:lpstr>
      <vt:lpstr>Clonación de plásmidos:</vt:lpstr>
      <vt:lpstr>Otras formas de usar fluorescencia para seguir eventos</vt:lpstr>
      <vt:lpstr>MENTIMETER #9</vt:lpstr>
      <vt:lpstr>Variedad de vectores y tipos de plásmidos en AddGene</vt:lpstr>
      <vt:lpstr>Ca2+, Células musculares, Salud Cardiaca</vt:lpstr>
      <vt:lpstr>A manera de resumen…</vt:lpstr>
      <vt:lpstr>Ejercicio de AddGene</vt:lpstr>
      <vt:lpstr>Ejercicio AddGene y plásmidos biosensores</vt:lpstr>
      <vt:lpstr>MENTIMETER #10</vt:lpstr>
      <vt:lpstr>Purificando proteínas recombinantes</vt:lpstr>
      <vt:lpstr>Purificando proteínas recombinantes</vt:lpstr>
      <vt:lpstr>Purificando proteínas recombinantes</vt:lpstr>
      <vt:lpstr>Ejercicio de Ensamblaje de Múltiples Fragmentos</vt:lpstr>
      <vt:lpstr>Purificando proteínas recombinantes</vt:lpstr>
      <vt:lpstr>MENTIMETER #11</vt:lpstr>
      <vt:lpstr>Purificando proteínas recombinantes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Salazar Claros (PG Research)</dc:creator>
  <cp:lastModifiedBy>Rafael Salazar Claros (PG Research)</cp:lastModifiedBy>
  <cp:revision>2</cp:revision>
  <dcterms:created xsi:type="dcterms:W3CDTF">2026-07-12T11:22:02Z</dcterms:created>
  <dcterms:modified xsi:type="dcterms:W3CDTF">2026-09-21T19:38:49Z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18d1e0-f5d7-4da7-8ddd-3b83021a2c85_Enabled">
    <vt:lpwstr>true</vt:lpwstr>
  </property>
  <property fmtid="{D5CDD505-2E9C-101B-9397-08002B2CF9AE}" pid="3" name="MSIP_Label_a618d1e0-f5d7-4da7-8ddd-3b83021a2c85_SetDate">
    <vt:lpwstr>2026-07-12T11:23:21Z</vt:lpwstr>
  </property>
  <property fmtid="{D5CDD505-2E9C-101B-9397-08002B2CF9AE}" pid="4" name="MSIP_Label_a618d1e0-f5d7-4da7-8ddd-3b83021a2c85_Method">
    <vt:lpwstr>Privileged</vt:lpwstr>
  </property>
  <property fmtid="{D5CDD505-2E9C-101B-9397-08002B2CF9AE}" pid="5" name="MSIP_Label_a618d1e0-f5d7-4da7-8ddd-3b83021a2c85_Name">
    <vt:lpwstr>Private</vt:lpwstr>
  </property>
  <property fmtid="{D5CDD505-2E9C-101B-9397-08002B2CF9AE}" pid="6" name="MSIP_Label_a618d1e0-f5d7-4da7-8ddd-3b83021a2c85_SiteId">
    <vt:lpwstr>ae323139-093a-4d2a-81a6-5d334bcd9019</vt:lpwstr>
  </property>
  <property fmtid="{D5CDD505-2E9C-101B-9397-08002B2CF9AE}" pid="7" name="MSIP_Label_a618d1e0-f5d7-4da7-8ddd-3b83021a2c85_ActionId">
    <vt:lpwstr>16e14d6f-550c-4aaa-94d0-fb1ae657051c</vt:lpwstr>
  </property>
  <property fmtid="{D5CDD505-2E9C-101B-9397-08002B2CF9AE}" pid="8" name="MSIP_Label_a618d1e0-f5d7-4da7-8ddd-3b83021a2c85_ContentBits">
    <vt:lpwstr>0</vt:lpwstr>
  </property>
  <property fmtid="{D5CDD505-2E9C-101B-9397-08002B2CF9AE}" pid="9" name="MSIP_Label_a618d1e0-f5d7-4da7-8ddd-3b83021a2c85_Tag">
    <vt:lpwstr>50, 0, 1, 1</vt:lpwstr>
  </property>
</Properties>
</file>