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8" r:id="rId1"/>
  </p:sldMasterIdLst>
  <p:notesMasterIdLst>
    <p:notesMasterId r:id="rId23"/>
  </p:notesMasterIdLst>
  <p:sldIdLst>
    <p:sldId id="338" r:id="rId2"/>
    <p:sldId id="319" r:id="rId3"/>
    <p:sldId id="294" r:id="rId4"/>
    <p:sldId id="296" r:id="rId5"/>
    <p:sldId id="295" r:id="rId6"/>
    <p:sldId id="312" r:id="rId7"/>
    <p:sldId id="308" r:id="rId8"/>
    <p:sldId id="337" r:id="rId9"/>
    <p:sldId id="323" r:id="rId10"/>
    <p:sldId id="324" r:id="rId11"/>
    <p:sldId id="304" r:id="rId12"/>
    <p:sldId id="325" r:id="rId13"/>
    <p:sldId id="326" r:id="rId14"/>
    <p:sldId id="321" r:id="rId15"/>
    <p:sldId id="262" r:id="rId16"/>
    <p:sldId id="328" r:id="rId17"/>
    <p:sldId id="329" r:id="rId18"/>
    <p:sldId id="322" r:id="rId19"/>
    <p:sldId id="330" r:id="rId20"/>
    <p:sldId id="331" r:id="rId21"/>
    <p:sldId id="33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40"/>
    <p:restoredTop sz="94568"/>
  </p:normalViewPr>
  <p:slideViewPr>
    <p:cSldViewPr snapToGrid="0">
      <p:cViewPr>
        <p:scale>
          <a:sx n="123" d="100"/>
          <a:sy n="123" d="100"/>
        </p:scale>
        <p:origin x="-296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40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BCB77-06D6-334D-AA1B-4B3C1ABF4D58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33E5-06AB-C741-A847-1BF99E2B9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5FE17-0465-8B32-3009-31C0B90B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B05D60-1B89-E18C-E9E6-B4773B3D0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9E5A0-A06A-1A19-F02F-81F9B88ED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82915-CF4D-1190-1CE0-7F78BA18C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67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037BF-C8C2-BDE8-BB75-0DCFAB20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C40C1-D68D-0C9E-A144-AE9DEF0AC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0B51BA-245C-092D-F188-BF44FFB1A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A97AB-936C-328A-08C7-0E738EEB7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60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46EF3-1EE4-52EE-F5A3-AFBB20118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C9AFDA-9BFF-4071-E9B9-5B2765131E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E8B6A5-8E70-9C76-1F6C-2B7D72CC0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86F04-F6FE-4E66-5B31-69375F725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64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420F5-0204-28C3-FE39-F21F8F1BE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F8A31-8233-DC86-1183-48921BD43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0E5272-7122-1C55-2CB4-14B093B92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F0796-5809-F775-FE37-A1629DFB9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497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F0EB4-0C1E-FD64-5CB7-A016C4D23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D04EC-276F-6694-4143-AAAED7CAC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C5459-0693-6F12-2F44-3A5A8EA97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9F0E4-82C1-A08E-18DD-2767036E5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683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DC2E3-6AA1-BA60-FA37-B665FE500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B152B-8740-4AE4-706E-7403E2584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A4EED3-E6B0-D981-D459-A6C83EE38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BF7D5-E473-6D15-B254-306194ADE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094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D6A7D-8037-6872-FB08-5E61B5A5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A4EEAB-F0C3-91B8-DC24-294145225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24E86-1E7F-38B5-C05F-EEA2C024D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4A5DF-F467-E2D0-790E-BDB01B0A8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33E5-06AB-C741-A847-1BF99E2B922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54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DD8EA-538A-E34D-9040-C5188B545F58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79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753A8-A22E-C041-9240-C8CFA8BCF92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6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A4B82-C688-0C4F-B317-818FCE638E16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56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B48B8-5E4E-6046-A923-8B7722D3B236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2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3E5CC-574C-D144-9B07-8BB8D5E6275D}" type="datetime1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0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9700F-90FB-B649-9475-B68DEE4F6B55}" type="datetime1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40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158A-0AF3-064E-A137-061C77DC485B}" type="datetime1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91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085B-3D92-8A43-910E-42383052DD01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5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8CF12166-A0A2-AA4B-AB3C-2AA40725AF1E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8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1008A-EA0D-8447-83D8-C17775C0DB34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11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5EC1D-8F14-EA4F-9FDE-A5BDD8D4DDDC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19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BE0D44B7-4368-F14A-81D2-149345E48EFC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698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prot.org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DDF6-4E4E-7D01-1B65-06AEA67A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F64D-013C-8A48-B13B-D88B441B2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747" y="4990563"/>
            <a:ext cx="11206313" cy="928567"/>
          </a:xfrm>
        </p:spPr>
        <p:txBody>
          <a:bodyPr anchor="ctr">
            <a:normAutofit/>
          </a:bodyPr>
          <a:lstStyle/>
          <a:p>
            <a:r>
              <a:rPr lang="es-ES_tradnl" sz="3600" noProof="0" dirty="0"/>
              <a:t>Clonación de plásmidos: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0D7BB-F042-6F8C-F601-A50B135E2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747" y="5768853"/>
            <a:ext cx="11203841" cy="539804"/>
          </a:xfrm>
        </p:spPr>
        <p:txBody>
          <a:bodyPr anchor="t">
            <a:normAutofit/>
          </a:bodyPr>
          <a:lstStyle/>
          <a:p>
            <a:r>
              <a:rPr lang="es-ES_tradnl" dirty="0"/>
              <a:t>del diseño a experimentos</a:t>
            </a:r>
            <a:endParaRPr lang="es-ES_tradnl" noProof="0" dirty="0"/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B647F75D-B76D-D6C0-D7FE-784133FF44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00" b="23814"/>
          <a:stretch>
            <a:fillRect/>
          </a:stretch>
        </p:blipFill>
        <p:spPr>
          <a:xfrm>
            <a:off x="20" y="10"/>
            <a:ext cx="12191979" cy="4763159"/>
          </a:xfrm>
          <a:custGeom>
            <a:avLst/>
            <a:gdLst/>
            <a:ahLst/>
            <a:cxnLst/>
            <a:rect l="l" t="t" r="r" b="b"/>
            <a:pathLst>
              <a:path w="12191999" h="4763169">
                <a:moveTo>
                  <a:pt x="0" y="0"/>
                </a:moveTo>
                <a:lnTo>
                  <a:pt x="12191999" y="0"/>
                </a:lnTo>
                <a:lnTo>
                  <a:pt x="12191999" y="4083630"/>
                </a:lnTo>
                <a:cubicBezTo>
                  <a:pt x="12191999" y="4458929"/>
                  <a:pt x="11887759" y="4763169"/>
                  <a:pt x="11512459" y="4763169"/>
                </a:cubicBezTo>
                <a:lnTo>
                  <a:pt x="6172519" y="4763169"/>
                </a:lnTo>
                <a:lnTo>
                  <a:pt x="5997087" y="4763169"/>
                </a:lnTo>
                <a:lnTo>
                  <a:pt x="657146" y="4763169"/>
                </a:lnTo>
                <a:cubicBezTo>
                  <a:pt x="375671" y="4763169"/>
                  <a:pt x="134167" y="4592034"/>
                  <a:pt x="31007" y="4348137"/>
                </a:cubicBezTo>
                <a:lnTo>
                  <a:pt x="0" y="4248250"/>
                </a:lnTo>
                <a:close/>
              </a:path>
            </a:pathLst>
          </a:cu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C0DBDDCA-5C8C-E7EC-95AE-571156516CDD}"/>
              </a:ext>
            </a:extLst>
          </p:cNvPr>
          <p:cNvSpPr txBox="1">
            <a:spLocks/>
          </p:cNvSpPr>
          <p:nvPr/>
        </p:nvSpPr>
        <p:spPr>
          <a:xfrm>
            <a:off x="8416887" y="6318186"/>
            <a:ext cx="3696266" cy="5398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ES_tradnl" i="1" dirty="0"/>
              <a:t>18-22 de Septiembre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75D788-87CE-76F4-1ED6-7E06BD401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578" y="107033"/>
            <a:ext cx="2104964" cy="210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0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ABD14-DE20-1DF6-38CC-50F5AE0B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15D0-E87B-3BA3-DDAA-67CFDA4BF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#5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E7BEE-C0E1-A77E-108A-8FD69433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2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166036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416E-CAB4-50E2-613D-898634A16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4D473F-B9E6-D2A9-1F98-86138B16A945}"/>
              </a:ext>
            </a:extLst>
          </p:cNvPr>
          <p:cNvSpPr/>
          <p:nvPr/>
        </p:nvSpPr>
        <p:spPr>
          <a:xfrm>
            <a:off x="-216872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AAA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19ECE65-97EA-FB53-85D8-437BD5CF4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Cambios puntuales en nucleótidos: Mutagénesis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7D6A21-F1C6-51F9-2867-63316D3AA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595" y="1083628"/>
            <a:ext cx="9900809" cy="2645115"/>
          </a:xfrm>
          <a:prstGeom prst="rect">
            <a:avLst/>
          </a:prstGeom>
        </p:spPr>
      </p:pic>
      <p:pic>
        <p:nvPicPr>
          <p:cNvPr id="6" name="Picture 5" descr="Genetic Code">
            <a:extLst>
              <a:ext uri="{FF2B5EF4-FFF2-40B4-BE49-F238E27FC236}">
                <a16:creationId xmlns:a16="http://schemas.microsoft.com/office/drawing/2014/main" id="{9418C9D0-915D-1335-829F-A5B000B27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1764" y="3633955"/>
            <a:ext cx="3705768" cy="30977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C84CD2-F5E9-1448-40E5-73571B40A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68" y="4156521"/>
            <a:ext cx="6278137" cy="1741381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A11F09A6-11D1-F5FB-43DE-2775973B07B0}"/>
              </a:ext>
            </a:extLst>
          </p:cNvPr>
          <p:cNvSpPr txBox="1">
            <a:spLocks/>
          </p:cNvSpPr>
          <p:nvPr/>
        </p:nvSpPr>
        <p:spPr>
          <a:xfrm>
            <a:off x="1308408" y="6156696"/>
            <a:ext cx="4289725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6 pb + Codon a Cambiar + 27 pb = 33 pb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4039EFD-26AC-9B85-243F-70FE470D2E88}"/>
              </a:ext>
            </a:extLst>
          </p:cNvPr>
          <p:cNvSpPr txBox="1">
            <a:spLocks/>
          </p:cNvSpPr>
          <p:nvPr/>
        </p:nvSpPr>
        <p:spPr>
          <a:xfrm>
            <a:off x="1145595" y="6524495"/>
            <a:ext cx="4289725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accent4"/>
                </a:solidFill>
              </a:rPr>
              <a:t>Receta general para </a:t>
            </a:r>
            <a:r>
              <a:rPr lang="es-ES_tradnl" sz="1400" b="1" dirty="0" err="1">
                <a:solidFill>
                  <a:schemeClr val="accent4"/>
                </a:solidFill>
              </a:rPr>
              <a:t>primers</a:t>
            </a:r>
            <a:r>
              <a:rPr lang="es-ES_tradnl" sz="1400" b="1" dirty="0">
                <a:solidFill>
                  <a:schemeClr val="accent4"/>
                </a:solidFill>
              </a:rPr>
              <a:t> para </a:t>
            </a:r>
            <a:r>
              <a:rPr lang="es-ES_tradnl" sz="1400" b="1" dirty="0" err="1">
                <a:solidFill>
                  <a:schemeClr val="accent4"/>
                </a:solidFill>
              </a:rPr>
              <a:t>Mutagenesis</a:t>
            </a:r>
            <a:endParaRPr lang="es-ES_tradnl" sz="14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55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AA739-8C16-A069-F77D-A54B4705C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E5BF7C6-7A60-8C19-9473-39F0EB097FC5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291603-BD3C-828E-B3AD-E67C1687DB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Eliminando regiones del plásmido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A3826D-40FC-BD0D-93C6-5F74A9EAD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155" y="1961682"/>
            <a:ext cx="10269690" cy="275528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CB7BD44-862F-E634-1103-F99DD394320A}"/>
              </a:ext>
            </a:extLst>
          </p:cNvPr>
          <p:cNvSpPr/>
          <p:nvPr/>
        </p:nvSpPr>
        <p:spPr>
          <a:xfrm>
            <a:off x="6255834" y="2910469"/>
            <a:ext cx="5151864" cy="7136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D9D537-FA68-A75C-4662-D11C60C9C6CF}"/>
              </a:ext>
            </a:extLst>
          </p:cNvPr>
          <p:cNvSpPr/>
          <p:nvPr/>
        </p:nvSpPr>
        <p:spPr>
          <a:xfrm>
            <a:off x="6255834" y="3624147"/>
            <a:ext cx="5151864" cy="11931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0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D74B9-C21C-5168-3B41-81B6399F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8384F1-5880-5F56-0A06-68EB4163F011}"/>
              </a:ext>
            </a:extLst>
          </p:cNvPr>
          <p:cNvSpPr/>
          <p:nvPr/>
        </p:nvSpPr>
        <p:spPr>
          <a:xfrm>
            <a:off x="-283779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FD3206E-A91C-A2FF-68D2-05FB4C76D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Agregando secuencias cortas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87A173-9EAA-2D27-BC59-19C42C2D5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02" y="2110152"/>
            <a:ext cx="10441638" cy="26376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3353674-2D29-2653-B870-6CB69CFED0B1}"/>
              </a:ext>
            </a:extLst>
          </p:cNvPr>
          <p:cNvSpPr/>
          <p:nvPr/>
        </p:nvSpPr>
        <p:spPr>
          <a:xfrm>
            <a:off x="6255834" y="2910469"/>
            <a:ext cx="5151864" cy="7136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A8E849-AB18-7990-0374-C85E2CF73742}"/>
              </a:ext>
            </a:extLst>
          </p:cNvPr>
          <p:cNvSpPr/>
          <p:nvPr/>
        </p:nvSpPr>
        <p:spPr>
          <a:xfrm>
            <a:off x="6255834" y="3624147"/>
            <a:ext cx="5151864" cy="11931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7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7CB48-9F7F-D813-0C20-7B7E0076B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B5C41C1-5D70-938D-3442-6496566E090B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2B571EA-B57E-3431-431F-68A19C72C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Sustitución de secuencias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ECABDE-A52E-1E49-35EC-B666B57C9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710" y="2080322"/>
            <a:ext cx="10053782" cy="269735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44B59D8-A6B4-09A1-CEE8-21ADBE72DB66}"/>
              </a:ext>
            </a:extLst>
          </p:cNvPr>
          <p:cNvSpPr/>
          <p:nvPr/>
        </p:nvSpPr>
        <p:spPr>
          <a:xfrm>
            <a:off x="6255834" y="2910469"/>
            <a:ext cx="5151864" cy="7136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7E88B2-100C-E102-433E-A9F8650A9B76}"/>
              </a:ext>
            </a:extLst>
          </p:cNvPr>
          <p:cNvSpPr/>
          <p:nvPr/>
        </p:nvSpPr>
        <p:spPr>
          <a:xfrm>
            <a:off x="6255834" y="3624147"/>
            <a:ext cx="5151864" cy="119318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30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AE7F4-FA19-3CD9-54FF-D16371FDA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EBDEDE5-DDBE-7832-5256-87ACB4C2BFF8}"/>
              </a:ext>
            </a:extLst>
          </p:cNvPr>
          <p:cNvSpPr/>
          <p:nvPr/>
        </p:nvSpPr>
        <p:spPr>
          <a:xfrm>
            <a:off x="-283779" y="898635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3FF112C-93E0-7373-CA83-145CA19BF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 err="1"/>
              <a:t>UniProt</a:t>
            </a:r>
            <a:r>
              <a:rPr lang="es-ES_tradnl" sz="3200" noProof="0" dirty="0"/>
              <a:t> como repositorio para entender tu POI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FD170-5493-AADD-1AA4-5EECB3C0B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8" y="1467990"/>
            <a:ext cx="5958920" cy="3095953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E0369F82-5EC0-CFFC-1EE2-CEAEB9148B8D}"/>
              </a:ext>
            </a:extLst>
          </p:cNvPr>
          <p:cNvSpPr txBox="1">
            <a:spLocks/>
          </p:cNvSpPr>
          <p:nvPr/>
        </p:nvSpPr>
        <p:spPr>
          <a:xfrm>
            <a:off x="2170772" y="4753515"/>
            <a:ext cx="2326890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  <a:hlinkClick r:id="rId3"/>
              </a:rPr>
              <a:t>https://www.uniprot.org</a:t>
            </a:r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567D817-1E9E-29B9-88EA-BE132A962E15}"/>
              </a:ext>
            </a:extLst>
          </p:cNvPr>
          <p:cNvSpPr txBox="1">
            <a:spLocks/>
          </p:cNvSpPr>
          <p:nvPr/>
        </p:nvSpPr>
        <p:spPr>
          <a:xfrm>
            <a:off x="7694339" y="1827200"/>
            <a:ext cx="4114801" cy="4132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bg1"/>
                </a:solidFill>
              </a:rPr>
              <a:t>Información contenida:</a:t>
            </a:r>
          </a:p>
          <a:p>
            <a:endParaRPr lang="es-ES_tradnl" sz="1800" b="1" dirty="0">
              <a:solidFill>
                <a:schemeClr val="bg1"/>
              </a:solidFill>
            </a:endParaRPr>
          </a:p>
          <a:p>
            <a:r>
              <a:rPr lang="es-ES_tradnl" sz="1800" dirty="0">
                <a:solidFill>
                  <a:schemeClr val="bg1"/>
                </a:solidFill>
              </a:rPr>
              <a:t>+ Residuos importantes</a:t>
            </a:r>
          </a:p>
          <a:p>
            <a:r>
              <a:rPr lang="es-ES_tradnl" sz="1800" dirty="0">
                <a:solidFill>
                  <a:schemeClr val="bg1"/>
                </a:solidFill>
              </a:rPr>
              <a:t>+ </a:t>
            </a:r>
            <a:r>
              <a:rPr lang="es-ES_tradnl" sz="1800" dirty="0">
                <a:solidFill>
                  <a:srgbClr val="C00000"/>
                </a:solidFill>
              </a:rPr>
              <a:t>Dominios y motivos</a:t>
            </a:r>
          </a:p>
          <a:p>
            <a:r>
              <a:rPr lang="es-ES_tradnl" sz="1800" dirty="0">
                <a:solidFill>
                  <a:schemeClr val="bg1"/>
                </a:solidFill>
              </a:rPr>
              <a:t>+ Funciones</a:t>
            </a:r>
          </a:p>
          <a:p>
            <a:r>
              <a:rPr lang="es-ES_tradnl" sz="1800" dirty="0">
                <a:solidFill>
                  <a:schemeClr val="bg1"/>
                </a:solidFill>
              </a:rPr>
              <a:t>+ Secuencia consenso</a:t>
            </a:r>
          </a:p>
          <a:p>
            <a:r>
              <a:rPr lang="es-ES_tradnl" sz="1800" dirty="0">
                <a:solidFill>
                  <a:schemeClr val="bg1"/>
                </a:solidFill>
              </a:rPr>
              <a:t>+ Publicaciones asociadas</a:t>
            </a:r>
          </a:p>
        </p:txBody>
      </p:sp>
    </p:spTree>
    <p:extLst>
      <p:ext uri="{BB962C8B-B14F-4D97-AF65-F5344CB8AC3E}">
        <p14:creationId xmlns:p14="http://schemas.microsoft.com/office/powerpoint/2010/main" val="1287129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2BA67-4CD4-0143-4B44-0056C52F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9E750F5-5E10-1574-2529-A94B30AB9117}"/>
              </a:ext>
            </a:extLst>
          </p:cNvPr>
          <p:cNvSpPr/>
          <p:nvPr/>
        </p:nvSpPr>
        <p:spPr>
          <a:xfrm>
            <a:off x="-128376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2026-09-15 at 05.52.37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9E565C-BDF8-BEE3-29A8-EDE8C02E1D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Ejercicio de </a:t>
            </a:r>
            <a:r>
              <a:rPr lang="es-ES_tradnl" sz="3200" noProof="0" dirty="0" err="1"/>
              <a:t>UniProt</a:t>
            </a:r>
            <a:endParaRPr lang="es-ES_tradnl" sz="3200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77E24F-EED8-7482-A148-555323658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83" y="2852855"/>
            <a:ext cx="5194049" cy="246874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1A8753-BF4D-8D6D-D915-A3353A87CA1A}"/>
              </a:ext>
            </a:extLst>
          </p:cNvPr>
          <p:cNvCxnSpPr>
            <a:cxnSpLocks/>
          </p:cNvCxnSpPr>
          <p:nvPr/>
        </p:nvCxnSpPr>
        <p:spPr>
          <a:xfrm flipH="1">
            <a:off x="1505380" y="2235645"/>
            <a:ext cx="1360713" cy="107952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2">
            <a:extLst>
              <a:ext uri="{FF2B5EF4-FFF2-40B4-BE49-F238E27FC236}">
                <a16:creationId xmlns:a16="http://schemas.microsoft.com/office/drawing/2014/main" id="{3DAF909D-341E-7C82-5935-546624E461B8}"/>
              </a:ext>
            </a:extLst>
          </p:cNvPr>
          <p:cNvSpPr txBox="1">
            <a:spLocks/>
          </p:cNvSpPr>
          <p:nvPr/>
        </p:nvSpPr>
        <p:spPr>
          <a:xfrm>
            <a:off x="2428877" y="1984727"/>
            <a:ext cx="1360713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Guia del día 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009F2A-344B-3A05-9872-781C05667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813" y="1467384"/>
            <a:ext cx="6048698" cy="460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53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E1D3F-221D-A4BB-563F-FF0F0FD7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56CD9B5-041B-7F73-11AF-261D137DD57A}"/>
              </a:ext>
            </a:extLst>
          </p:cNvPr>
          <p:cNvSpPr/>
          <p:nvPr/>
        </p:nvSpPr>
        <p:spPr>
          <a:xfrm>
            <a:off x="-128376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Screenshot 2026-09-15 at 05.52.37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6E4729-BD2B-3515-60A0-1B73C033F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Ejercicio para el eliminar un dominio de NS1A</a:t>
            </a:r>
          </a:p>
        </p:txBody>
      </p:sp>
      <p:sp>
        <p:nvSpPr>
          <p:cNvPr id="12" name="Snip and Round Single Corner Rectangle 11">
            <a:extLst>
              <a:ext uri="{FF2B5EF4-FFF2-40B4-BE49-F238E27FC236}">
                <a16:creationId xmlns:a16="http://schemas.microsoft.com/office/drawing/2014/main" id="{FB3E5289-530F-91E7-4279-2A893B037A4B}"/>
              </a:ext>
            </a:extLst>
          </p:cNvPr>
          <p:cNvSpPr/>
          <p:nvPr/>
        </p:nvSpPr>
        <p:spPr>
          <a:xfrm>
            <a:off x="323385" y="1706137"/>
            <a:ext cx="5319133" cy="3980985"/>
          </a:xfrm>
          <a:prstGeom prst="snip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8B8FA6-C29B-DF25-FABF-4F898E8CB4F0}"/>
              </a:ext>
            </a:extLst>
          </p:cNvPr>
          <p:cNvSpPr txBox="1">
            <a:spLocks/>
          </p:cNvSpPr>
          <p:nvPr/>
        </p:nvSpPr>
        <p:spPr>
          <a:xfrm>
            <a:off x="583579" y="2082849"/>
            <a:ext cx="5319133" cy="4376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accent4"/>
                </a:solidFill>
              </a:rPr>
              <a:t>Principios para el diseño de pares de </a:t>
            </a:r>
            <a:r>
              <a:rPr lang="es-ES_tradnl" b="1" dirty="0" err="1">
                <a:solidFill>
                  <a:schemeClr val="accent4"/>
                </a:solidFill>
              </a:rPr>
              <a:t>primers</a:t>
            </a:r>
            <a:r>
              <a:rPr lang="es-ES_tradnl" b="1" dirty="0">
                <a:solidFill>
                  <a:schemeClr val="accent4"/>
                </a:solidFill>
              </a:rPr>
              <a:t>:</a:t>
            </a:r>
          </a:p>
          <a:p>
            <a:endParaRPr lang="es-ES_tradnl" b="1" dirty="0">
              <a:solidFill>
                <a:schemeClr val="accent4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0397DA5-5A36-293F-59AE-8B6F218E444F}"/>
              </a:ext>
            </a:extLst>
          </p:cNvPr>
          <p:cNvSpPr txBox="1">
            <a:spLocks/>
          </p:cNvSpPr>
          <p:nvPr/>
        </p:nvSpPr>
        <p:spPr>
          <a:xfrm>
            <a:off x="869794" y="3075242"/>
            <a:ext cx="4289725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Longitud entre 15-30 pb</a:t>
            </a:r>
          </a:p>
          <a:p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3D5732D-6B43-C15C-664B-F071A0507419}"/>
              </a:ext>
            </a:extLst>
          </p:cNvPr>
          <p:cNvSpPr txBox="1">
            <a:spLocks/>
          </p:cNvSpPr>
          <p:nvPr/>
        </p:nvSpPr>
        <p:spPr>
          <a:xfrm>
            <a:off x="869793" y="3556367"/>
            <a:ext cx="5319133" cy="4376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Tm inferior o igual a 68 C, pero mayor o igual a 55 C</a:t>
            </a:r>
          </a:p>
          <a:p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A02F513-2A38-A636-075C-B171741C563C}"/>
              </a:ext>
            </a:extLst>
          </p:cNvPr>
          <p:cNvSpPr txBox="1">
            <a:spLocks/>
          </p:cNvSpPr>
          <p:nvPr/>
        </p:nvSpPr>
        <p:spPr>
          <a:xfrm>
            <a:off x="869794" y="4037492"/>
            <a:ext cx="4289725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 err="1">
                <a:solidFill>
                  <a:schemeClr val="bg1"/>
                </a:solidFill>
              </a:rPr>
              <a:t>Overhang</a:t>
            </a:r>
            <a:r>
              <a:rPr lang="es-ES_tradnl" sz="1400" b="1" dirty="0">
                <a:solidFill>
                  <a:schemeClr val="bg1"/>
                </a:solidFill>
              </a:rPr>
              <a:t> de 12 pb</a:t>
            </a:r>
          </a:p>
          <a:p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89BFD2E-624B-C542-C8FB-AE8EEB2484AA}"/>
              </a:ext>
            </a:extLst>
          </p:cNvPr>
          <p:cNvSpPr txBox="1">
            <a:spLocks/>
          </p:cNvSpPr>
          <p:nvPr/>
        </p:nvSpPr>
        <p:spPr>
          <a:xfrm>
            <a:off x="869793" y="4518617"/>
            <a:ext cx="4482792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(Opcional) Extremo 3’ con una o dos bases C o G</a:t>
            </a:r>
          </a:p>
          <a:p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98995-971C-2C1C-018F-2A437FAF1BC1}"/>
              </a:ext>
            </a:extLst>
          </p:cNvPr>
          <p:cNvSpPr txBox="1">
            <a:spLocks/>
          </p:cNvSpPr>
          <p:nvPr/>
        </p:nvSpPr>
        <p:spPr>
          <a:xfrm>
            <a:off x="6094279" y="1302637"/>
            <a:ext cx="6032810" cy="4376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accent4"/>
                </a:solidFill>
              </a:rPr>
              <a:t>Eliminar la NLS del plásmido P003-NS1A-EGFP</a:t>
            </a:r>
          </a:p>
          <a:p>
            <a:endParaRPr lang="es-ES_tradnl" b="1" dirty="0">
              <a:solidFill>
                <a:schemeClr val="accent4"/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1C77BC1-398E-6B43-B3AD-9A61D2931B9B}"/>
              </a:ext>
            </a:extLst>
          </p:cNvPr>
          <p:cNvSpPr txBox="1">
            <a:spLocks/>
          </p:cNvSpPr>
          <p:nvPr/>
        </p:nvSpPr>
        <p:spPr>
          <a:xfrm>
            <a:off x="869793" y="5020189"/>
            <a:ext cx="4482792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Pares de primer deben tener Tm similares +/- 1 C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A1250C-1603-E70C-CE47-6F1B169F2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120" y="1971336"/>
            <a:ext cx="5159301" cy="438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67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99CB5-EEAE-E049-BDCE-F1947F2B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6387-BE3D-ADB4-EBB9-0B0D9CFA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Espacio de consultas para proyectos grupales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7864C-393D-A022-9EEF-DB611BD8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10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152263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5EB3-7116-420A-8BE7-39F00591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B51FCE6-B0F9-A105-0FA7-49DB3E1BBFF8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B499CAB-015B-109F-4E34-32C72DDCE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dirty="0"/>
              <a:t>¿Que tipo de plásmido necesitas?</a:t>
            </a:r>
            <a:endParaRPr lang="es-ES_tradnl" sz="320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E7646C-A82F-396B-2FE7-CEA56024A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972" y="1763829"/>
            <a:ext cx="5938056" cy="373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38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A346E-FF5F-AA17-5CB2-C9E585527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0AFD0B-9DFF-0F46-0EE6-75CFCD149867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D91F532-C8A1-73C2-EEA8-7B0D95FFB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dirty="0"/>
              <a:t>¿Que tipo de plásmido necesitas?</a:t>
            </a:r>
            <a:endParaRPr lang="es-ES_tradnl" sz="3200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F73FD1-1224-7A53-2DC5-9881F62BF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70" y="2081092"/>
            <a:ext cx="7873254" cy="23985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EFCDC6-EAE9-CC6E-52D8-4D016C348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070" y="1382749"/>
            <a:ext cx="2038350" cy="409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143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F60CC-C2CC-2289-A488-09F27B2D4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380DED1-25EF-E71F-5AD4-DE872DA2C18D}"/>
              </a:ext>
            </a:extLst>
          </p:cNvPr>
          <p:cNvSpPr/>
          <p:nvPr/>
        </p:nvSpPr>
        <p:spPr>
          <a:xfrm>
            <a:off x="-283779" y="898634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C32647-5B8C-9234-6B07-9EB9F4BD7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dirty="0"/>
              <a:t>¿Que tipo de plásmido necesitas?</a:t>
            </a:r>
            <a:endParaRPr lang="es-ES_tradnl" sz="3200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8B4085-7A8D-7335-1F83-942362B2D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972" y="1763829"/>
            <a:ext cx="5938056" cy="373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2334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1F5BF-62CC-1F4C-76FA-4CF40A88E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411F-C64B-6CB9-CF60-A9FECF88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#6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27186F-C3C0-940D-E046-DDEA67AE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14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3709579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1FA9C-3EE9-3D6C-9A47-42DF91701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63CEBCF-CDD7-62BA-7CF8-C6C48195D12B}"/>
              </a:ext>
            </a:extLst>
          </p:cNvPr>
          <p:cNvSpPr/>
          <p:nvPr/>
        </p:nvSpPr>
        <p:spPr>
          <a:xfrm>
            <a:off x="-205720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E1365D-0B44-5645-81ED-ACB7D71ED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Introducción a las Tags </a:t>
            </a:r>
            <a:r>
              <a:rPr lang="es-ES_tradnl" sz="3200" dirty="0"/>
              <a:t>¿Que </a:t>
            </a:r>
            <a:r>
              <a:rPr lang="es-ES_tradnl" sz="3200" noProof="0" dirty="0"/>
              <a:t>es una etiqueta?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77DFDC-7D00-A9A0-10CE-A95F1BAB2CAC}"/>
              </a:ext>
            </a:extLst>
          </p:cNvPr>
          <p:cNvGrpSpPr/>
          <p:nvPr/>
        </p:nvGrpSpPr>
        <p:grpSpPr>
          <a:xfrm>
            <a:off x="428310" y="1047758"/>
            <a:ext cx="11331816" cy="2910673"/>
            <a:chOff x="1054595" y="2636433"/>
            <a:chExt cx="7510598" cy="192916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B51E8A8-0A7A-A33C-B904-C8D9FF993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1382"/>
            <a:stretch>
              <a:fillRect/>
            </a:stretch>
          </p:blipFill>
          <p:spPr>
            <a:xfrm>
              <a:off x="1054595" y="2636433"/>
              <a:ext cx="7510598" cy="59101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2994F7-5A47-8E40-CBF2-CC82B4331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0488"/>
            <a:stretch>
              <a:fillRect/>
            </a:stretch>
          </p:blipFill>
          <p:spPr>
            <a:xfrm>
              <a:off x="1054595" y="3227448"/>
              <a:ext cx="7510598" cy="1338146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DB6F2DC2-9467-F1C2-6923-7222D3485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339" y="4192029"/>
            <a:ext cx="8083758" cy="153591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CCEE5353-A2B8-99F1-69A5-43623944A91F}"/>
              </a:ext>
            </a:extLst>
          </p:cNvPr>
          <p:cNvSpPr txBox="1">
            <a:spLocks/>
          </p:cNvSpPr>
          <p:nvPr/>
        </p:nvSpPr>
        <p:spPr>
          <a:xfrm>
            <a:off x="1182029" y="6211248"/>
            <a:ext cx="10236816" cy="43767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800" b="1" dirty="0">
                <a:solidFill>
                  <a:schemeClr val="bg1"/>
                </a:solidFill>
              </a:rPr>
              <a:t>OJO: Siempre es importante validar que la etiqueta no interfiera con la funciona de la proteína</a:t>
            </a:r>
          </a:p>
          <a:p>
            <a:endParaRPr lang="es-ES_tradnl" sz="1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021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E873F-CAF6-9B2B-4787-AF5E8F799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D3A89-39FC-E7CB-32A6-B32FA9ED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#7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B43A8-F8B8-7696-4D82-02863D63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16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941382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0FD82-1174-0A0C-82B0-E6230E078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EE14951-6460-1AB1-A1AB-7FD3CB1CB7C7}"/>
              </a:ext>
            </a:extLst>
          </p:cNvPr>
          <p:cNvSpPr/>
          <p:nvPr/>
        </p:nvSpPr>
        <p:spPr>
          <a:xfrm>
            <a:off x="-205720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F94AD4-8088-B2A5-576A-1B4CD921E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Introducción a las Tags </a:t>
            </a:r>
            <a:r>
              <a:rPr lang="es-ES_tradnl" sz="3200" dirty="0"/>
              <a:t>¿Que </a:t>
            </a:r>
            <a:r>
              <a:rPr lang="es-ES_tradnl" sz="3200" noProof="0" dirty="0"/>
              <a:t>es una etiqueta?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6AA4C5-AB27-3536-9BF0-5BB59642D8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83" b="19685"/>
          <a:stretch>
            <a:fillRect/>
          </a:stretch>
        </p:blipFill>
        <p:spPr>
          <a:xfrm>
            <a:off x="1908190" y="1131434"/>
            <a:ext cx="8375620" cy="547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85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4A86C-720E-F353-2283-EF55F78EA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C0B7BB4-3E10-7153-7813-61E803CBF47B}"/>
              </a:ext>
            </a:extLst>
          </p:cNvPr>
          <p:cNvSpPr/>
          <p:nvPr/>
        </p:nvSpPr>
        <p:spPr>
          <a:xfrm>
            <a:off x="-199388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039CCB-34A9-B3DF-B414-561CF2CDB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dirty="0"/>
              <a:t>B</a:t>
            </a:r>
            <a:r>
              <a:rPr lang="es-ES_tradnl" sz="3200" noProof="0" dirty="0" err="1"/>
              <a:t>iología</a:t>
            </a:r>
            <a:r>
              <a:rPr lang="es-ES_tradnl" sz="3200" noProof="0" dirty="0"/>
              <a:t> Celular:</a:t>
            </a:r>
            <a:r>
              <a:rPr lang="es-ES_tradnl" sz="3200" dirty="0"/>
              <a:t> El dónde y cuando </a:t>
            </a:r>
            <a:endParaRPr lang="es-ES_tradnl" sz="3200" noProof="0" dirty="0"/>
          </a:p>
        </p:txBody>
      </p:sp>
      <p:pic>
        <p:nvPicPr>
          <p:cNvPr id="5" name="Picture 4" descr="Núcleo celular">
            <a:extLst>
              <a:ext uri="{FF2B5EF4-FFF2-40B4-BE49-F238E27FC236}">
                <a16:creationId xmlns:a16="http://schemas.microsoft.com/office/drawing/2014/main" id="{0D69E8A6-96B2-261C-A59B-69209C4CFC3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1F1F1"/>
              </a:clrFrom>
              <a:clrTo>
                <a:srgbClr val="F1F1F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84682" y="1444982"/>
            <a:ext cx="4676993" cy="4686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205AD9-3DEF-158A-4CB0-75AC9333FC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183" r="52482" b="64101"/>
          <a:stretch>
            <a:fillRect/>
          </a:stretch>
        </p:blipFill>
        <p:spPr>
          <a:xfrm>
            <a:off x="4442310" y="2606441"/>
            <a:ext cx="1336073" cy="1448748"/>
          </a:xfrm>
          <a:prstGeom prst="rect">
            <a:avLst/>
          </a:prstGeom>
        </p:spPr>
      </p:pic>
      <p:sp>
        <p:nvSpPr>
          <p:cNvPr id="12" name="Bent Arrow 11">
            <a:extLst>
              <a:ext uri="{FF2B5EF4-FFF2-40B4-BE49-F238E27FC236}">
                <a16:creationId xmlns:a16="http://schemas.microsoft.com/office/drawing/2014/main" id="{0613CCED-4B91-FEA6-0C02-71EB4053D9D3}"/>
              </a:ext>
            </a:extLst>
          </p:cNvPr>
          <p:cNvSpPr/>
          <p:nvPr/>
        </p:nvSpPr>
        <p:spPr>
          <a:xfrm rot="11910584">
            <a:off x="3112762" y="3821885"/>
            <a:ext cx="1731655" cy="49680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Bent Arrow 12">
            <a:extLst>
              <a:ext uri="{FF2B5EF4-FFF2-40B4-BE49-F238E27FC236}">
                <a16:creationId xmlns:a16="http://schemas.microsoft.com/office/drawing/2014/main" id="{64907A8B-EA5D-D2F6-AF23-A6DBCC7E14F6}"/>
              </a:ext>
            </a:extLst>
          </p:cNvPr>
          <p:cNvSpPr/>
          <p:nvPr/>
        </p:nvSpPr>
        <p:spPr>
          <a:xfrm rot="19760421" flipH="1">
            <a:off x="3462530" y="2311885"/>
            <a:ext cx="1540115" cy="470007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A62499DC-2957-7823-C305-E35562C80BD5}"/>
              </a:ext>
            </a:extLst>
          </p:cNvPr>
          <p:cNvSpPr txBox="1">
            <a:spLocks/>
          </p:cNvSpPr>
          <p:nvPr/>
        </p:nvSpPr>
        <p:spPr>
          <a:xfrm>
            <a:off x="447071" y="5884014"/>
            <a:ext cx="5463076" cy="7321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b="1" dirty="0">
                <a:solidFill>
                  <a:schemeClr val="bg1"/>
                </a:solidFill>
              </a:rPr>
              <a:t>Los efectos de cualquier proteína y con que otras moléculas interactúa están marcados por donde esta</a:t>
            </a:r>
          </a:p>
          <a:p>
            <a:endParaRPr lang="es-ES_tradnl" sz="1600" b="1" dirty="0">
              <a:solidFill>
                <a:schemeClr val="bg1"/>
              </a:solidFill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5DC7E82-61F9-C16A-4E53-515D6B646EBF}"/>
              </a:ext>
            </a:extLst>
          </p:cNvPr>
          <p:cNvSpPr txBox="1">
            <a:spLocks/>
          </p:cNvSpPr>
          <p:nvPr/>
        </p:nvSpPr>
        <p:spPr>
          <a:xfrm>
            <a:off x="6706835" y="1488533"/>
            <a:ext cx="5485165" cy="471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800" b="1" dirty="0">
                <a:solidFill>
                  <a:schemeClr val="accent4"/>
                </a:solidFill>
              </a:rPr>
              <a:t>Pensemos en NS1A del virus de Influenza A</a:t>
            </a:r>
          </a:p>
          <a:p>
            <a:endParaRPr lang="es-ES_tradnl" sz="1800" b="1" dirty="0">
              <a:solidFill>
                <a:schemeClr val="accent4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7F6A71-1850-4E47-04AD-8993372F5F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869" y="5524068"/>
            <a:ext cx="4916667" cy="3252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1AE566-A11C-74AB-CE8F-4E8362374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381" y="2151845"/>
            <a:ext cx="3535020" cy="3372223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A48576EC-AD5F-29C2-60CF-2E460730D12A}"/>
              </a:ext>
            </a:extLst>
          </p:cNvPr>
          <p:cNvSpPr txBox="1">
            <a:spLocks/>
          </p:cNvSpPr>
          <p:nvPr/>
        </p:nvSpPr>
        <p:spPr>
          <a:xfrm>
            <a:off x="6747585" y="6069169"/>
            <a:ext cx="4567234" cy="4844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1600" b="1" dirty="0">
                <a:solidFill>
                  <a:schemeClr val="bg1"/>
                </a:solidFill>
              </a:rPr>
              <a:t>Tiene un dominio para interactuar con ARN</a:t>
            </a:r>
          </a:p>
          <a:p>
            <a:pPr algn="ctr"/>
            <a:endParaRPr lang="es-ES_tradnl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9820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/>
      <p:bldP spid="15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B3D3C-4F76-9457-BB05-420BB203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BE8E084-3C6F-B55B-C939-3AAC706D27B8}"/>
              </a:ext>
            </a:extLst>
          </p:cNvPr>
          <p:cNvSpPr/>
          <p:nvPr/>
        </p:nvSpPr>
        <p:spPr>
          <a:xfrm>
            <a:off x="-199388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D02382B-7ED0-3987-B0D5-A643DF67E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dirty="0"/>
              <a:t>Recordatorio de biología celular</a:t>
            </a:r>
            <a:endParaRPr lang="es-ES_tradnl" sz="3200" noProof="0" dirty="0"/>
          </a:p>
        </p:txBody>
      </p:sp>
      <p:pic>
        <p:nvPicPr>
          <p:cNvPr id="5" name="Picture 4" descr="Núcleo celular">
            <a:extLst>
              <a:ext uri="{FF2B5EF4-FFF2-40B4-BE49-F238E27FC236}">
                <a16:creationId xmlns:a16="http://schemas.microsoft.com/office/drawing/2014/main" id="{9B2C5FAE-6115-483A-C42D-F654AC7F80BD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1F1F1"/>
              </a:clrFrom>
              <a:clrTo>
                <a:srgbClr val="F1F1F1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84682" y="1444982"/>
            <a:ext cx="4676993" cy="4686347"/>
          </a:xfrm>
          <a:prstGeom prst="rect">
            <a:avLst/>
          </a:prstGeom>
        </p:spPr>
      </p:pic>
      <p:sp>
        <p:nvSpPr>
          <p:cNvPr id="4" name="Down Arrow 3">
            <a:extLst>
              <a:ext uri="{FF2B5EF4-FFF2-40B4-BE49-F238E27FC236}">
                <a16:creationId xmlns:a16="http://schemas.microsoft.com/office/drawing/2014/main" id="{848B3BA2-7921-8B1D-F4A3-EA7BE83ED6EA}"/>
              </a:ext>
            </a:extLst>
          </p:cNvPr>
          <p:cNvSpPr/>
          <p:nvPr/>
        </p:nvSpPr>
        <p:spPr>
          <a:xfrm rot="1625642">
            <a:off x="1686947" y="3450266"/>
            <a:ext cx="125542" cy="591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060742D-6806-6021-32A7-FDE6059273BF}"/>
              </a:ext>
            </a:extLst>
          </p:cNvPr>
          <p:cNvSpPr txBox="1">
            <a:spLocks/>
          </p:cNvSpPr>
          <p:nvPr/>
        </p:nvSpPr>
        <p:spPr>
          <a:xfrm>
            <a:off x="1834557" y="3089427"/>
            <a:ext cx="801866" cy="4721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b="1" dirty="0">
                <a:solidFill>
                  <a:schemeClr val="bg1"/>
                </a:solidFill>
              </a:rPr>
              <a:t>ADN</a:t>
            </a:r>
          </a:p>
          <a:p>
            <a:endParaRPr lang="es-ES_tradnl" sz="1600" b="1" dirty="0">
              <a:solidFill>
                <a:schemeClr val="bg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FB49868-ED95-BB75-3109-E92B2B0FF158}"/>
              </a:ext>
            </a:extLst>
          </p:cNvPr>
          <p:cNvSpPr txBox="1">
            <a:spLocks/>
          </p:cNvSpPr>
          <p:nvPr/>
        </p:nvSpPr>
        <p:spPr>
          <a:xfrm>
            <a:off x="1311290" y="3996198"/>
            <a:ext cx="801866" cy="4721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b="1" dirty="0">
                <a:solidFill>
                  <a:schemeClr val="bg1"/>
                </a:solidFill>
              </a:rPr>
              <a:t>ARN</a:t>
            </a:r>
          </a:p>
          <a:p>
            <a:endParaRPr lang="es-ES_tradnl" sz="1600" b="1" dirty="0">
              <a:solidFill>
                <a:schemeClr val="bg1"/>
              </a:solidFill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0694309F-C17D-88B0-C604-689D46FF15D4}"/>
              </a:ext>
            </a:extLst>
          </p:cNvPr>
          <p:cNvSpPr/>
          <p:nvPr/>
        </p:nvSpPr>
        <p:spPr>
          <a:xfrm rot="2750688">
            <a:off x="2948639" y="4460207"/>
            <a:ext cx="592041" cy="14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60DA9A3-82CE-EBE3-FE90-DC5949BB5BD4}"/>
              </a:ext>
            </a:extLst>
          </p:cNvPr>
          <p:cNvSpPr txBox="1">
            <a:spLocks/>
          </p:cNvSpPr>
          <p:nvPr/>
        </p:nvSpPr>
        <p:spPr>
          <a:xfrm>
            <a:off x="3292803" y="4713564"/>
            <a:ext cx="801866" cy="4721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b="1" dirty="0" err="1">
                <a:solidFill>
                  <a:schemeClr val="bg1"/>
                </a:solidFill>
              </a:rPr>
              <a:t>mARN</a:t>
            </a:r>
            <a:endParaRPr lang="es-ES_tradnl" sz="1600" b="1" dirty="0">
              <a:solidFill>
                <a:schemeClr val="bg1"/>
              </a:solidFill>
            </a:endParaRPr>
          </a:p>
          <a:p>
            <a:endParaRPr lang="es-ES_tradnl" sz="1600" b="1" dirty="0">
              <a:solidFill>
                <a:schemeClr val="bg1"/>
              </a:solidFill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7472218E-97F3-B28F-9C96-4D4EF8119E26}"/>
              </a:ext>
            </a:extLst>
          </p:cNvPr>
          <p:cNvSpPr txBox="1">
            <a:spLocks/>
          </p:cNvSpPr>
          <p:nvPr/>
        </p:nvSpPr>
        <p:spPr>
          <a:xfrm>
            <a:off x="2468635" y="3967090"/>
            <a:ext cx="801866" cy="4721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b="1" dirty="0" err="1">
                <a:solidFill>
                  <a:schemeClr val="bg1"/>
                </a:solidFill>
              </a:rPr>
              <a:t>mARN</a:t>
            </a:r>
            <a:endParaRPr lang="es-ES_tradnl" sz="1600" b="1" dirty="0">
              <a:solidFill>
                <a:schemeClr val="bg1"/>
              </a:solidFill>
            </a:endParaRPr>
          </a:p>
          <a:p>
            <a:endParaRPr lang="es-ES_tradnl" sz="1600" b="1" dirty="0">
              <a:solidFill>
                <a:schemeClr val="bg1"/>
              </a:solidFill>
            </a:endParaRPr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0F773440-1C43-A4BF-37DD-1F94CDFCA7A5}"/>
              </a:ext>
            </a:extLst>
          </p:cNvPr>
          <p:cNvSpPr/>
          <p:nvPr/>
        </p:nvSpPr>
        <p:spPr>
          <a:xfrm rot="16200000">
            <a:off x="2106412" y="3894617"/>
            <a:ext cx="125542" cy="5915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4BCA942B-346F-5478-B158-E080930AE2B4}"/>
              </a:ext>
            </a:extLst>
          </p:cNvPr>
          <p:cNvSpPr/>
          <p:nvPr/>
        </p:nvSpPr>
        <p:spPr>
          <a:xfrm rot="16200000">
            <a:off x="3471763" y="4349596"/>
            <a:ext cx="592041" cy="1480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60BB2552-9384-78D3-D180-955F73F87ADF}"/>
              </a:ext>
            </a:extLst>
          </p:cNvPr>
          <p:cNvSpPr txBox="1">
            <a:spLocks/>
          </p:cNvSpPr>
          <p:nvPr/>
        </p:nvSpPr>
        <p:spPr>
          <a:xfrm>
            <a:off x="3343847" y="3791759"/>
            <a:ext cx="973388" cy="47218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600" b="1" dirty="0">
                <a:solidFill>
                  <a:schemeClr val="bg1"/>
                </a:solidFill>
              </a:rPr>
              <a:t>Proteínas</a:t>
            </a:r>
          </a:p>
          <a:p>
            <a:endParaRPr lang="es-ES_tradnl" sz="1600" b="1" dirty="0">
              <a:solidFill>
                <a:schemeClr val="bg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BB611B5-AF0E-524A-9424-8691E1F24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311" y="1158427"/>
            <a:ext cx="2756680" cy="2629728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21223135-91B1-A3A2-A573-97CFDD97729E}"/>
              </a:ext>
            </a:extLst>
          </p:cNvPr>
          <p:cNvSpPr txBox="1">
            <a:spLocks/>
          </p:cNvSpPr>
          <p:nvPr/>
        </p:nvSpPr>
        <p:spPr>
          <a:xfrm>
            <a:off x="7475763" y="1511008"/>
            <a:ext cx="4664927" cy="4844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Captura ARN a través de su RBD (RNA </a:t>
            </a:r>
            <a:r>
              <a:rPr lang="es-ES_tradnl" sz="1400" b="1" dirty="0" err="1">
                <a:solidFill>
                  <a:schemeClr val="bg1"/>
                </a:solidFill>
              </a:rPr>
              <a:t>Binding</a:t>
            </a:r>
            <a:r>
              <a:rPr lang="es-ES_tradnl" sz="1400" b="1" dirty="0">
                <a:solidFill>
                  <a:schemeClr val="bg1"/>
                </a:solidFill>
              </a:rPr>
              <a:t> Domain)</a:t>
            </a:r>
          </a:p>
          <a:p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7F4461F4-919B-1D9E-51F7-352B7473B902}"/>
              </a:ext>
            </a:extLst>
          </p:cNvPr>
          <p:cNvSpPr txBox="1">
            <a:spLocks/>
          </p:cNvSpPr>
          <p:nvPr/>
        </p:nvSpPr>
        <p:spPr>
          <a:xfrm>
            <a:off x="7475762" y="2349372"/>
            <a:ext cx="4664927" cy="4844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1400" b="1" dirty="0">
                <a:solidFill>
                  <a:schemeClr val="bg1"/>
                </a:solidFill>
              </a:rPr>
              <a:t>Inhibe la maduración del ARN a </a:t>
            </a:r>
            <a:r>
              <a:rPr lang="es-ES_tradnl" sz="1400" b="1" dirty="0" err="1">
                <a:solidFill>
                  <a:schemeClr val="bg1"/>
                </a:solidFill>
              </a:rPr>
              <a:t>mARN</a:t>
            </a:r>
            <a:endParaRPr lang="es-ES_tradnl" sz="1400" b="1" dirty="0">
              <a:solidFill>
                <a:schemeClr val="bg1"/>
              </a:solidFill>
            </a:endParaRPr>
          </a:p>
          <a:p>
            <a:endParaRPr lang="es-ES_tradnl" sz="1400" b="1" dirty="0">
              <a:solidFill>
                <a:schemeClr val="bg1"/>
              </a:solidFill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DA38A886-48DF-0FC7-EDE8-8B0D78AA2CF7}"/>
              </a:ext>
            </a:extLst>
          </p:cNvPr>
          <p:cNvSpPr txBox="1">
            <a:spLocks/>
          </p:cNvSpPr>
          <p:nvPr/>
        </p:nvSpPr>
        <p:spPr>
          <a:xfrm>
            <a:off x="5414298" y="5013170"/>
            <a:ext cx="5794918" cy="4844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b="1" dirty="0">
                <a:solidFill>
                  <a:schemeClr val="bg1"/>
                </a:solidFill>
              </a:rPr>
              <a:t>¿Donde crees que NS1A realiza su actividad?</a:t>
            </a:r>
          </a:p>
          <a:p>
            <a:endParaRPr lang="es-ES_tradnl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454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  <p:bldP spid="10" grpId="0" animBg="1"/>
      <p:bldP spid="17" grpId="0"/>
      <p:bldP spid="19" grpId="0"/>
      <p:bldP spid="20" grpId="0" animBg="1"/>
      <p:bldP spid="21" grpId="0" animBg="1"/>
      <p:bldP spid="22" grpId="0"/>
      <p:bldP spid="24" grpId="0"/>
      <p:bldP spid="25" grpId="0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C6B6D-A02E-A9D3-2611-B609C93D2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DE099-10BF-6A8D-E99F-1FEC406F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MENTIMETER #8</a:t>
            </a:r>
            <a:endParaRPr lang="es-ES_tradnl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B2CF5-09EE-A0DE-B7D5-7861730F0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s-ES_tradnl" noProof="0" smtClean="0"/>
              <a:t>20</a:t>
            </a:fld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2493490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F967E-3912-4C52-9F0E-CFE86533E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40C9D53-CF1E-C907-38CA-2A818F6D20B9}"/>
              </a:ext>
            </a:extLst>
          </p:cNvPr>
          <p:cNvSpPr/>
          <p:nvPr/>
        </p:nvSpPr>
        <p:spPr>
          <a:xfrm>
            <a:off x="-199388" y="960098"/>
            <a:ext cx="12927723" cy="64638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3B6A203-BDE4-BC0B-A4D6-35F209BA1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31"/>
            <a:ext cx="12192000" cy="928567"/>
          </a:xfrm>
        </p:spPr>
        <p:txBody>
          <a:bodyPr anchor="ctr">
            <a:normAutofit/>
          </a:bodyPr>
          <a:lstStyle/>
          <a:p>
            <a:pPr algn="ctr"/>
            <a:r>
              <a:rPr lang="es-ES_tradnl" sz="3200" noProof="0" dirty="0"/>
              <a:t>Uso de etiquetas fluorescentes para visualizar localización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779490-A8A8-97B4-9E1B-6485525F1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263" y="1083526"/>
            <a:ext cx="8193359" cy="546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131666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10101</TotalTime>
  <Words>334</Words>
  <Application>Microsoft Macintosh PowerPoint</Application>
  <PresentationFormat>Widescreen</PresentationFormat>
  <Paragraphs>68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Neue Haas Grotesk Text Pro</vt:lpstr>
      <vt:lpstr>DylanVTI</vt:lpstr>
      <vt:lpstr>Clonación de plásmidos:</vt:lpstr>
      <vt:lpstr>MENTIMETER #5</vt:lpstr>
      <vt:lpstr>Cambios puntuales en nucleótidos: Mutagénesis</vt:lpstr>
      <vt:lpstr>Eliminando regiones del plásmido</vt:lpstr>
      <vt:lpstr>Agregando secuencias cortas</vt:lpstr>
      <vt:lpstr>Sustitución de secuencias</vt:lpstr>
      <vt:lpstr>UniProt como repositorio para entender tu POI</vt:lpstr>
      <vt:lpstr>Ejercicio de UniProt</vt:lpstr>
      <vt:lpstr>Ejercicio para el eliminar un dominio de NS1A</vt:lpstr>
      <vt:lpstr>Espacio de consultas para proyectos grupales</vt:lpstr>
      <vt:lpstr>¿Que tipo de plásmido necesitas?</vt:lpstr>
      <vt:lpstr>¿Que tipo de plásmido necesitas?</vt:lpstr>
      <vt:lpstr>¿Que tipo de plásmido necesitas?</vt:lpstr>
      <vt:lpstr>MENTIMETER #6</vt:lpstr>
      <vt:lpstr>Introducción a las Tags ¿Que es una etiqueta?</vt:lpstr>
      <vt:lpstr>MENTIMETER #7</vt:lpstr>
      <vt:lpstr>Introducción a las Tags ¿Que es una etiqueta?</vt:lpstr>
      <vt:lpstr>Biología Celular: El dónde y cuando </vt:lpstr>
      <vt:lpstr>Recordatorio de biología celular</vt:lpstr>
      <vt:lpstr>MENTIMETER #8</vt:lpstr>
      <vt:lpstr>Uso de etiquetas fluorescentes para visualizar localización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Salazar Claros (PG Research)</dc:creator>
  <cp:lastModifiedBy>Rafael Salazar Claros (PG Research)</cp:lastModifiedBy>
  <cp:revision>3</cp:revision>
  <dcterms:created xsi:type="dcterms:W3CDTF">2026-07-12T11:22:02Z</dcterms:created>
  <dcterms:modified xsi:type="dcterms:W3CDTF">2026-09-21T05:09:34Z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18d1e0-f5d7-4da7-8ddd-3b83021a2c85_Enabled">
    <vt:lpwstr>true</vt:lpwstr>
  </property>
  <property fmtid="{D5CDD505-2E9C-101B-9397-08002B2CF9AE}" pid="3" name="MSIP_Label_a618d1e0-f5d7-4da7-8ddd-3b83021a2c85_SetDate">
    <vt:lpwstr>2026-07-12T11:23:21Z</vt:lpwstr>
  </property>
  <property fmtid="{D5CDD505-2E9C-101B-9397-08002B2CF9AE}" pid="4" name="MSIP_Label_a618d1e0-f5d7-4da7-8ddd-3b83021a2c85_Method">
    <vt:lpwstr>Privileged</vt:lpwstr>
  </property>
  <property fmtid="{D5CDD505-2E9C-101B-9397-08002B2CF9AE}" pid="5" name="MSIP_Label_a618d1e0-f5d7-4da7-8ddd-3b83021a2c85_Name">
    <vt:lpwstr>Private</vt:lpwstr>
  </property>
  <property fmtid="{D5CDD505-2E9C-101B-9397-08002B2CF9AE}" pid="6" name="MSIP_Label_a618d1e0-f5d7-4da7-8ddd-3b83021a2c85_SiteId">
    <vt:lpwstr>ae323139-093a-4d2a-81a6-5d334bcd9019</vt:lpwstr>
  </property>
  <property fmtid="{D5CDD505-2E9C-101B-9397-08002B2CF9AE}" pid="7" name="MSIP_Label_a618d1e0-f5d7-4da7-8ddd-3b83021a2c85_ActionId">
    <vt:lpwstr>16e14d6f-550c-4aaa-94d0-fb1ae657051c</vt:lpwstr>
  </property>
  <property fmtid="{D5CDD505-2E9C-101B-9397-08002B2CF9AE}" pid="8" name="MSIP_Label_a618d1e0-f5d7-4da7-8ddd-3b83021a2c85_ContentBits">
    <vt:lpwstr>0</vt:lpwstr>
  </property>
  <property fmtid="{D5CDD505-2E9C-101B-9397-08002B2CF9AE}" pid="9" name="MSIP_Label_a618d1e0-f5d7-4da7-8ddd-3b83021a2c85_Tag">
    <vt:lpwstr>50, 0, 1, 1</vt:lpwstr>
  </property>
</Properties>
</file>