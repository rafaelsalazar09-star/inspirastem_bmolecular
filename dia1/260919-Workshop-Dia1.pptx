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1"/>
  </p:sldMasterIdLst>
  <p:notesMasterIdLst>
    <p:notesMasterId r:id="rId26"/>
  </p:notesMasterIdLst>
  <p:sldIdLst>
    <p:sldId id="256" r:id="rId2"/>
    <p:sldId id="315" r:id="rId3"/>
    <p:sldId id="258" r:id="rId4"/>
    <p:sldId id="285" r:id="rId5"/>
    <p:sldId id="286" r:id="rId6"/>
    <p:sldId id="287" r:id="rId7"/>
    <p:sldId id="288" r:id="rId8"/>
    <p:sldId id="291" r:id="rId9"/>
    <p:sldId id="316" r:id="rId10"/>
    <p:sldId id="298" r:id="rId11"/>
    <p:sldId id="293" r:id="rId12"/>
    <p:sldId id="289" r:id="rId13"/>
    <p:sldId id="317" r:id="rId14"/>
    <p:sldId id="290" r:id="rId15"/>
    <p:sldId id="279" r:id="rId16"/>
    <p:sldId id="280" r:id="rId17"/>
    <p:sldId id="281" r:id="rId18"/>
    <p:sldId id="284" r:id="rId19"/>
    <p:sldId id="297" r:id="rId20"/>
    <p:sldId id="318" r:id="rId21"/>
    <p:sldId id="300" r:id="rId22"/>
    <p:sldId id="310" r:id="rId23"/>
    <p:sldId id="302" r:id="rId24"/>
    <p:sldId id="31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5"/>
    <p:restoredTop sz="94568"/>
  </p:normalViewPr>
  <p:slideViewPr>
    <p:cSldViewPr snapToGrid="0">
      <p:cViewPr>
        <p:scale>
          <a:sx n="114" d="100"/>
          <a:sy n="114" d="100"/>
        </p:scale>
        <p:origin x="32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BCB77-06D6-334D-AA1B-4B3C1ABF4D58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33E5-06AB-C741-A847-1BF99E2B9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3FB5-00BF-BCD6-EA2A-86C938FA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F7F03-B1E0-9715-8551-8CB654C58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98FFF-05F3-DB09-FA77-2AFD21AE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52B5-67CB-F45D-0B83-D2D607C72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2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4E3E-E874-D3B7-933C-2A9DC5CC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8E2BE-510A-D4C7-39E3-F830A371A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B3EC1-21B5-46E3-1A76-0A76B2721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383AE-A87A-19F7-BE10-50FCBE2F4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56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88A3-DA11-7318-2EBD-2D8BBF6B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EDE1C-83AA-9060-67E0-3847BCEC5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30B65-17E2-0F2D-792F-7CD85833D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37C13-622D-4204-AB41-F9FC3CCAA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77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C12B-45A4-7037-0CF1-83785037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8ED01-4FA3-CD82-FA49-8E8521AD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C953C-2839-2E3E-1E1B-46134C224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261C4-02A0-5456-F377-6A40AD66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96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6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35B2-8CD1-A82F-0442-C5A49BEF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7B461-F988-4AB2-70D7-98B25DAB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BA45E-DEF5-04D8-04EE-89A5DBEEC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9EB75-047F-0F04-0F0C-E11B415A1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4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D8EA-538A-E34D-9040-C5188B545F58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53A8-A22E-C041-9240-C8CFA8BCF920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4B82-C688-0C4F-B317-818FCE638E16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5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B48B8-5E4E-6046-A923-8B7722D3B236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2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E5CC-574C-D144-9B07-8BB8D5E6275D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0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9700F-90FB-B649-9475-B68DEE4F6B55}" type="datetime1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40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158A-0AF3-064E-A137-061C77DC485B}" type="datetime1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9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085B-3D92-8A43-910E-42383052DD01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8CF12166-A0A2-AA4B-AB3C-2AA40725AF1E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1008A-EA0D-8447-83D8-C17775C0DB34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EC1D-8F14-EA4F-9FDE-A5BDD8D4DDDC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BE0D44B7-4368-F14A-81D2-149345E48EFC}" type="datetime1">
              <a:rPr lang="en-US" smtClean="0"/>
              <a:t>9/15/26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98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org&amp;utm_campaign=index&amp;utm_content=origi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6" name="Rectangle 245">
            <a:extLst>
              <a:ext uri="{FF2B5EF4-FFF2-40B4-BE49-F238E27FC236}">
                <a16:creationId xmlns:a16="http://schemas.microsoft.com/office/drawing/2014/main" id="{FA6B3B35-324C-0E4F-9288-7DF50CE9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B09DF-A7E6-82C6-781B-36E898E72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47" y="4990563"/>
            <a:ext cx="11206313" cy="928567"/>
          </a:xfrm>
        </p:spPr>
        <p:txBody>
          <a:bodyPr anchor="ctr">
            <a:normAutofit/>
          </a:bodyPr>
          <a:lstStyle/>
          <a:p>
            <a:r>
              <a:rPr lang="es-ES_tradnl" sz="3600" noProof="0" dirty="0"/>
              <a:t>Clonación de plásmidos: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018FF-4384-7A6F-11FA-7ED8FD27F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47" y="5768853"/>
            <a:ext cx="11203841" cy="539804"/>
          </a:xfrm>
        </p:spPr>
        <p:txBody>
          <a:bodyPr anchor="t">
            <a:normAutofit/>
          </a:bodyPr>
          <a:lstStyle/>
          <a:p>
            <a:r>
              <a:rPr lang="es-ES_tradnl" dirty="0"/>
              <a:t>del diseño a experimentos</a:t>
            </a:r>
            <a:endParaRPr lang="es-ES_tradnl" noProof="0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4858D76D-E5FD-1447-8800-8B54FA13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00" b="23814"/>
          <a:stretch>
            <a:fillRect/>
          </a:stretch>
        </p:blipFill>
        <p:spPr>
          <a:xfrm>
            <a:off x="20" y="10"/>
            <a:ext cx="12191979" cy="4763159"/>
          </a:xfrm>
          <a:custGeom>
            <a:avLst/>
            <a:gdLst/>
            <a:ahLst/>
            <a:cxnLst/>
            <a:rect l="l" t="t" r="r" b="b"/>
            <a:pathLst>
              <a:path w="12191999" h="4763169">
                <a:moveTo>
                  <a:pt x="0" y="0"/>
                </a:moveTo>
                <a:lnTo>
                  <a:pt x="12191999" y="0"/>
                </a:lnTo>
                <a:lnTo>
                  <a:pt x="12191999" y="4083630"/>
                </a:lnTo>
                <a:cubicBezTo>
                  <a:pt x="12191999" y="4458929"/>
                  <a:pt x="11887759" y="4763169"/>
                  <a:pt x="11512459" y="4763169"/>
                </a:cubicBezTo>
                <a:lnTo>
                  <a:pt x="6172519" y="4763169"/>
                </a:lnTo>
                <a:lnTo>
                  <a:pt x="5997087" y="4763169"/>
                </a:lnTo>
                <a:lnTo>
                  <a:pt x="657146" y="4763169"/>
                </a:lnTo>
                <a:cubicBezTo>
                  <a:pt x="375671" y="4763169"/>
                  <a:pt x="134167" y="4592034"/>
                  <a:pt x="31007" y="4348137"/>
                </a:cubicBezTo>
                <a:lnTo>
                  <a:pt x="0" y="4248250"/>
                </a:lnTo>
                <a:close/>
              </a:path>
            </a:pathLst>
          </a:cu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0CB25A7-0C15-65B1-DF47-153160B10887}"/>
              </a:ext>
            </a:extLst>
          </p:cNvPr>
          <p:cNvSpPr txBox="1">
            <a:spLocks/>
          </p:cNvSpPr>
          <p:nvPr/>
        </p:nvSpPr>
        <p:spPr>
          <a:xfrm>
            <a:off x="8416887" y="6318186"/>
            <a:ext cx="3696266" cy="539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i="1" dirty="0"/>
              <a:t>18-22 de Septiembre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049B0-D8BB-38E0-EF0C-43D5F13D4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8" y="107033"/>
            <a:ext cx="2104964" cy="21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8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EC48-9564-5A1E-C930-CD8B151F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A0FE-B2F8-0579-6600-BB55A44B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#1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1F0ED-2F98-7F1B-DBC3-6956BE90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2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00036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C99A-8017-AF5A-9ECC-CD1CF715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17D30A-B65B-CFA4-DFA7-B47AA086FEB0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F5AE6E-2EE3-26E5-D7BB-A7861ABD9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¿Clonación?</a:t>
            </a:r>
          </a:p>
        </p:txBody>
      </p:sp>
      <p:pic>
        <p:nvPicPr>
          <p:cNvPr id="3" name="Picture 2" descr="Recombinant DNA Technology">
            <a:extLst>
              <a:ext uri="{FF2B5EF4-FFF2-40B4-BE49-F238E27FC236}">
                <a16:creationId xmlns:a16="http://schemas.microsoft.com/office/drawing/2014/main" id="{D8ECEE4C-C373-4FC6-64A1-21D875EDBAD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344" y="698143"/>
            <a:ext cx="11491310" cy="6463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D1B9CC-028B-5CDD-D699-2994D358C0C6}"/>
              </a:ext>
            </a:extLst>
          </p:cNvPr>
          <p:cNvSpPr/>
          <p:nvPr/>
        </p:nvSpPr>
        <p:spPr>
          <a:xfrm>
            <a:off x="3602515" y="1773716"/>
            <a:ext cx="7480453" cy="44287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F8B63-621F-72BD-1BC6-3039D2D7E174}"/>
              </a:ext>
            </a:extLst>
          </p:cNvPr>
          <p:cNvSpPr/>
          <p:nvPr/>
        </p:nvSpPr>
        <p:spPr>
          <a:xfrm>
            <a:off x="1265103" y="1556001"/>
            <a:ext cx="7480453" cy="25228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3A90-6CF0-63BA-DB73-529323D3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E4EA75-9EDF-905B-C36E-63F15679B677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BDE458-FD81-9B0E-7709-013E5EC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 Clonación?</a:t>
            </a:r>
            <a:endParaRPr lang="es-ES_tradnl" sz="3200" noProof="0" dirty="0"/>
          </a:p>
        </p:txBody>
      </p:sp>
      <p:pic>
        <p:nvPicPr>
          <p:cNvPr id="3" name="Picture 2" descr="Recombinant DNA Technology">
            <a:extLst>
              <a:ext uri="{FF2B5EF4-FFF2-40B4-BE49-F238E27FC236}">
                <a16:creationId xmlns:a16="http://schemas.microsoft.com/office/drawing/2014/main" id="{CE7EC629-DB9C-EFF3-A34F-AD9FE446339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344" y="698143"/>
            <a:ext cx="11491310" cy="6463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C63FDB-54C1-55CF-27BF-3C14945EC684}"/>
              </a:ext>
            </a:extLst>
          </p:cNvPr>
          <p:cNvSpPr/>
          <p:nvPr/>
        </p:nvSpPr>
        <p:spPr>
          <a:xfrm>
            <a:off x="5067759" y="1773716"/>
            <a:ext cx="6015209" cy="44287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34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D1E8-12CE-8576-DB49-3863641B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BDAB68-4A31-ED9E-462F-E673457F2AA9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BDCA91-AAE9-8EDF-3925-FE174D47B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 Clonación?</a:t>
            </a:r>
            <a:endParaRPr lang="es-ES_tradnl" sz="3200" noProof="0" dirty="0"/>
          </a:p>
        </p:txBody>
      </p:sp>
      <p:pic>
        <p:nvPicPr>
          <p:cNvPr id="3" name="Picture 2" descr="Recombinant DNA Technology">
            <a:extLst>
              <a:ext uri="{FF2B5EF4-FFF2-40B4-BE49-F238E27FC236}">
                <a16:creationId xmlns:a16="http://schemas.microsoft.com/office/drawing/2014/main" id="{197E826E-0C75-F8F3-588A-FA13A38A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344" y="698143"/>
            <a:ext cx="11491310" cy="6463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EB0229-120F-DCE4-88B4-867059C20480}"/>
              </a:ext>
            </a:extLst>
          </p:cNvPr>
          <p:cNvSpPr/>
          <p:nvPr/>
        </p:nvSpPr>
        <p:spPr>
          <a:xfrm>
            <a:off x="7072829" y="1773716"/>
            <a:ext cx="4010139" cy="44287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D93CB-2A6C-3897-B5DC-99FA07FB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0628E5-2958-0FD2-B0E1-058A2D9E842E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C3440A-0F2A-F8BA-967F-CCE699D10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 Clonación?</a:t>
            </a:r>
            <a:endParaRPr lang="es-ES_tradnl" sz="3200" noProof="0" dirty="0"/>
          </a:p>
        </p:txBody>
      </p:sp>
      <p:pic>
        <p:nvPicPr>
          <p:cNvPr id="3" name="Picture 2" descr="Recombinant DNA Technology">
            <a:extLst>
              <a:ext uri="{FF2B5EF4-FFF2-40B4-BE49-F238E27FC236}">
                <a16:creationId xmlns:a16="http://schemas.microsoft.com/office/drawing/2014/main" id="{0EA28F2D-D0FF-3B01-917D-E747A5076F3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344" y="698143"/>
            <a:ext cx="11491310" cy="64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9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434A9-E983-28B7-A7DB-665B3651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9DB2F0C-EC70-C19F-BCA7-35478D6CF1FA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DD1DF9-1ABE-846C-7250-DF6FDA76B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¿Cómo los usamos?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CB4F367-50BD-8F28-6B74-01A29FE13D56}"/>
              </a:ext>
            </a:extLst>
          </p:cNvPr>
          <p:cNvSpPr txBox="1">
            <a:spLocks/>
          </p:cNvSpPr>
          <p:nvPr/>
        </p:nvSpPr>
        <p:spPr>
          <a:xfrm>
            <a:off x="1906382" y="1432300"/>
            <a:ext cx="2486465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Bacterias (</a:t>
            </a:r>
            <a:r>
              <a:rPr lang="es-ES_tradnl" b="1" i="1" dirty="0">
                <a:solidFill>
                  <a:schemeClr val="bg1"/>
                </a:solidFill>
              </a:rPr>
              <a:t>E. </a:t>
            </a:r>
            <a:r>
              <a:rPr lang="es-ES_tradnl" b="1" i="1" dirty="0" err="1">
                <a:solidFill>
                  <a:schemeClr val="bg1"/>
                </a:solidFill>
              </a:rPr>
              <a:t>coli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61E331-DAF8-EA26-EA02-A2D69B2968FD}"/>
              </a:ext>
            </a:extLst>
          </p:cNvPr>
          <p:cNvSpPr txBox="1">
            <a:spLocks/>
          </p:cNvSpPr>
          <p:nvPr/>
        </p:nvSpPr>
        <p:spPr>
          <a:xfrm>
            <a:off x="1494495" y="1972104"/>
            <a:ext cx="4717048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Producción de plásmidos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Estudio de fisiología bacteriana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73C7FFC-0E5F-52E0-E4B9-FC6C9B81CE97}"/>
              </a:ext>
            </a:extLst>
          </p:cNvPr>
          <p:cNvSpPr txBox="1">
            <a:spLocks/>
          </p:cNvSpPr>
          <p:nvPr/>
        </p:nvSpPr>
        <p:spPr>
          <a:xfrm>
            <a:off x="6831014" y="1432300"/>
            <a:ext cx="3957088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Levadura (</a:t>
            </a:r>
            <a:r>
              <a:rPr lang="es-ES_tradnl" b="1" i="1" dirty="0">
                <a:solidFill>
                  <a:schemeClr val="bg1"/>
                </a:solidFill>
              </a:rPr>
              <a:t>S. </a:t>
            </a:r>
            <a:r>
              <a:rPr lang="es-ES_tradnl" b="1" i="1" dirty="0" err="1">
                <a:solidFill>
                  <a:schemeClr val="bg1"/>
                </a:solidFill>
              </a:rPr>
              <a:t>cerevisiae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156C09-2B21-850F-00E1-94096EB8DB96}"/>
              </a:ext>
            </a:extLst>
          </p:cNvPr>
          <p:cNvSpPr txBox="1">
            <a:spLocks/>
          </p:cNvSpPr>
          <p:nvPr/>
        </p:nvSpPr>
        <p:spPr>
          <a:xfrm>
            <a:off x="6410066" y="1972104"/>
            <a:ext cx="4717048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Organismos modelo para procesos celulares eucariotas simples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3B83084-B504-6808-489B-4531FD1EAD47}"/>
              </a:ext>
            </a:extLst>
          </p:cNvPr>
          <p:cNvSpPr txBox="1">
            <a:spLocks/>
          </p:cNvSpPr>
          <p:nvPr/>
        </p:nvSpPr>
        <p:spPr>
          <a:xfrm>
            <a:off x="3964231" y="3846725"/>
            <a:ext cx="4494623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Células humanas (</a:t>
            </a:r>
            <a:r>
              <a:rPr lang="es-ES_tradnl" b="1" i="1" dirty="0">
                <a:solidFill>
                  <a:schemeClr val="bg1"/>
                </a:solidFill>
              </a:rPr>
              <a:t>H. sapiens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1B1BFE1-28C9-5E15-BE73-EBB4E38DAF25}"/>
              </a:ext>
            </a:extLst>
          </p:cNvPr>
          <p:cNvSpPr txBox="1">
            <a:spLocks/>
          </p:cNvSpPr>
          <p:nvPr/>
        </p:nvSpPr>
        <p:spPr>
          <a:xfrm>
            <a:off x="3741806" y="4386529"/>
            <a:ext cx="5097394" cy="1757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Estudio de enfermedades y fisiología humana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</a:t>
            </a:r>
            <a:r>
              <a:rPr lang="es-ES_tradnl" sz="1600" dirty="0" err="1">
                <a:solidFill>
                  <a:schemeClr val="bg1"/>
                </a:solidFill>
              </a:rPr>
              <a:t>lentivirus</a:t>
            </a:r>
            <a:endParaRPr lang="es-ES_tradnl" sz="1600" dirty="0">
              <a:solidFill>
                <a:schemeClr val="bg1"/>
              </a:solidFill>
            </a:endParaRPr>
          </a:p>
          <a:p>
            <a:r>
              <a:rPr lang="es-ES_tradnl" sz="1600" dirty="0">
                <a:solidFill>
                  <a:schemeClr val="bg1"/>
                </a:solidFill>
              </a:rPr>
              <a:t>Aplicaciones terapéuticas (CRISPR, SB)</a:t>
            </a:r>
          </a:p>
        </p:txBody>
      </p:sp>
    </p:spTree>
    <p:extLst>
      <p:ext uri="{BB962C8B-B14F-4D97-AF65-F5344CB8AC3E}">
        <p14:creationId xmlns:p14="http://schemas.microsoft.com/office/powerpoint/2010/main" val="6732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6A4B-97F4-5556-0014-A0556238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E04F7E-5BDC-F4D2-CDFC-57B247AD0BAB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2DEBFE-366D-FC8E-EFF2-23EB89E1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¿Cómo los usamos?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24C0D16-E898-6F12-35DA-E1AB24E69597}"/>
              </a:ext>
            </a:extLst>
          </p:cNvPr>
          <p:cNvSpPr txBox="1">
            <a:spLocks/>
          </p:cNvSpPr>
          <p:nvPr/>
        </p:nvSpPr>
        <p:spPr>
          <a:xfrm>
            <a:off x="1906382" y="1432300"/>
            <a:ext cx="2486465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Bacterias (</a:t>
            </a:r>
            <a:r>
              <a:rPr lang="es-ES_tradnl" b="1" i="1" dirty="0">
                <a:solidFill>
                  <a:schemeClr val="bg1"/>
                </a:solidFill>
              </a:rPr>
              <a:t>E. </a:t>
            </a:r>
            <a:r>
              <a:rPr lang="es-ES_tradnl" b="1" i="1" dirty="0" err="1">
                <a:solidFill>
                  <a:schemeClr val="bg1"/>
                </a:solidFill>
              </a:rPr>
              <a:t>coli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9D32AC-79C1-0A50-9265-726A53539DD8}"/>
              </a:ext>
            </a:extLst>
          </p:cNvPr>
          <p:cNvSpPr txBox="1">
            <a:spLocks/>
          </p:cNvSpPr>
          <p:nvPr/>
        </p:nvSpPr>
        <p:spPr>
          <a:xfrm>
            <a:off x="1494495" y="1972104"/>
            <a:ext cx="4717048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Producción de plásmidos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Estudio de fisiología bacteriana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CCA444C-6360-7E61-5C2F-AA6F71F0CAA4}"/>
              </a:ext>
            </a:extLst>
          </p:cNvPr>
          <p:cNvSpPr txBox="1">
            <a:spLocks/>
          </p:cNvSpPr>
          <p:nvPr/>
        </p:nvSpPr>
        <p:spPr>
          <a:xfrm>
            <a:off x="6831014" y="1432300"/>
            <a:ext cx="3957088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Levadura (</a:t>
            </a:r>
            <a:r>
              <a:rPr lang="es-ES_tradnl" b="1" i="1" dirty="0">
                <a:solidFill>
                  <a:schemeClr val="bg1"/>
                </a:solidFill>
              </a:rPr>
              <a:t>S. </a:t>
            </a:r>
            <a:r>
              <a:rPr lang="es-ES_tradnl" b="1" i="1" dirty="0" err="1">
                <a:solidFill>
                  <a:schemeClr val="bg1"/>
                </a:solidFill>
              </a:rPr>
              <a:t>cerevisiae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91A192A-D295-742A-8643-7256CB265B7B}"/>
              </a:ext>
            </a:extLst>
          </p:cNvPr>
          <p:cNvSpPr txBox="1">
            <a:spLocks/>
          </p:cNvSpPr>
          <p:nvPr/>
        </p:nvSpPr>
        <p:spPr>
          <a:xfrm>
            <a:off x="6410066" y="1972104"/>
            <a:ext cx="4717048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recombinantes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Organismos modelo para procesos celulares eucariotas simples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B76DE8A-ABB2-70B7-2AAB-B1473E4C7A59}"/>
              </a:ext>
            </a:extLst>
          </p:cNvPr>
          <p:cNvSpPr txBox="1">
            <a:spLocks/>
          </p:cNvSpPr>
          <p:nvPr/>
        </p:nvSpPr>
        <p:spPr>
          <a:xfrm>
            <a:off x="3964231" y="3846725"/>
            <a:ext cx="4494623" cy="5398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Células humanas (</a:t>
            </a:r>
            <a:r>
              <a:rPr lang="es-ES_tradnl" b="1" i="1" dirty="0">
                <a:solidFill>
                  <a:schemeClr val="bg1"/>
                </a:solidFill>
              </a:rPr>
              <a:t>H. sapiens</a:t>
            </a:r>
            <a:r>
              <a:rPr lang="es-ES_tradnl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07F9AEB-2496-765A-2C32-EF3E6EFFC061}"/>
              </a:ext>
            </a:extLst>
          </p:cNvPr>
          <p:cNvSpPr txBox="1">
            <a:spLocks/>
          </p:cNvSpPr>
          <p:nvPr/>
        </p:nvSpPr>
        <p:spPr>
          <a:xfrm>
            <a:off x="3741806" y="4386529"/>
            <a:ext cx="5097394" cy="1757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Estudio de enfermedades y fisiología humana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proteínas recombinante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Producción de </a:t>
            </a:r>
            <a:r>
              <a:rPr lang="es-ES_tradnl" sz="1600" dirty="0" err="1">
                <a:solidFill>
                  <a:schemeClr val="bg1"/>
                </a:solidFill>
              </a:rPr>
              <a:t>lentivirus</a:t>
            </a:r>
            <a:endParaRPr lang="es-ES_tradnl" sz="1600" dirty="0">
              <a:solidFill>
                <a:schemeClr val="bg1"/>
              </a:solidFill>
            </a:endParaRPr>
          </a:p>
          <a:p>
            <a:r>
              <a:rPr lang="es-ES_tradnl" sz="1600" dirty="0">
                <a:solidFill>
                  <a:schemeClr val="bg1"/>
                </a:solidFill>
              </a:rPr>
              <a:t>Aplicaciones terapéuticas (CRISPR, SB)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7F57B4-FC5E-1E9E-1881-2522DACBAB54}"/>
              </a:ext>
            </a:extLst>
          </p:cNvPr>
          <p:cNvSpPr/>
          <p:nvPr/>
        </p:nvSpPr>
        <p:spPr>
          <a:xfrm>
            <a:off x="1046602" y="1244906"/>
            <a:ext cx="4483865" cy="21840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AACB08-A0CF-A30B-0C11-9BB867039E89}"/>
              </a:ext>
            </a:extLst>
          </p:cNvPr>
          <p:cNvCxnSpPr/>
          <p:nvPr/>
        </p:nvCxnSpPr>
        <p:spPr>
          <a:xfrm>
            <a:off x="5791200" y="2216727"/>
            <a:ext cx="420342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616AE7-96FA-91EF-BF69-420111ACFEEC}"/>
              </a:ext>
            </a:extLst>
          </p:cNvPr>
          <p:cNvCxnSpPr>
            <a:cxnSpLocks/>
          </p:cNvCxnSpPr>
          <p:nvPr/>
        </p:nvCxnSpPr>
        <p:spPr>
          <a:xfrm>
            <a:off x="2900232" y="3685309"/>
            <a:ext cx="549550" cy="43131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3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A902-B713-3378-CF33-2A195AA4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98D8-BA5F-6CCB-8A6E-54E789AF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#2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D17CE-4585-1FF0-B20A-26256004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9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54005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CF86-B2FC-8D75-DCA3-5F6B55F5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14A3E32-E35C-18F1-5A0E-C1889C554EBA}"/>
              </a:ext>
            </a:extLst>
          </p:cNvPr>
          <p:cNvSpPr/>
          <p:nvPr/>
        </p:nvSpPr>
        <p:spPr>
          <a:xfrm>
            <a:off x="-252319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AE8E25-CCA6-C229-0C7E-6BCD8D77F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¿Por qué buscamos alterar el genoma?</a:t>
            </a:r>
          </a:p>
        </p:txBody>
      </p:sp>
      <p:pic>
        <p:nvPicPr>
          <p:cNvPr id="2" name="Picture 1" descr="First Steps in Restoration">
            <a:extLst>
              <a:ext uri="{FF2B5EF4-FFF2-40B4-BE49-F238E27FC236}">
                <a16:creationId xmlns:a16="http://schemas.microsoft.com/office/drawing/2014/main" id="{B94FC9CD-F3CE-CE0B-CF8C-FA6A8A7E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611" y="1292351"/>
            <a:ext cx="7061200" cy="4521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AC9B94-40E1-FCC3-80B2-F7D9CD9C91F8}"/>
              </a:ext>
            </a:extLst>
          </p:cNvPr>
          <p:cNvSpPr txBox="1">
            <a:spLocks/>
          </p:cNvSpPr>
          <p:nvPr/>
        </p:nvSpPr>
        <p:spPr>
          <a:xfrm>
            <a:off x="1379600" y="5946373"/>
            <a:ext cx="9495222" cy="3988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dirty="0">
                <a:solidFill>
                  <a:schemeClr val="bg1"/>
                </a:solidFill>
              </a:rPr>
              <a:t>Sin conocimientos previos sobre radios, sus componentes, su función o el orden en como se ensamblan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4C5F703-DFAF-C537-0175-9F5687739DC1}"/>
              </a:ext>
            </a:extLst>
          </p:cNvPr>
          <p:cNvSpPr txBox="1">
            <a:spLocks/>
          </p:cNvSpPr>
          <p:nvPr/>
        </p:nvSpPr>
        <p:spPr>
          <a:xfrm>
            <a:off x="1379600" y="6427608"/>
            <a:ext cx="9495222" cy="398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1800" b="1" dirty="0">
                <a:solidFill>
                  <a:schemeClr val="bg1"/>
                </a:solidFill>
              </a:rPr>
              <a:t>¿Como averiguarían como funciona y que hace cada parte?</a:t>
            </a:r>
          </a:p>
        </p:txBody>
      </p:sp>
    </p:spTree>
    <p:extLst>
      <p:ext uri="{BB962C8B-B14F-4D97-AF65-F5344CB8AC3E}">
        <p14:creationId xmlns:p14="http://schemas.microsoft.com/office/powerpoint/2010/main" val="147473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D4BF-1D9E-08E9-3793-0F6380D9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17FEF8-A313-825E-2742-8466EA36DA18}"/>
              </a:ext>
            </a:extLst>
          </p:cNvPr>
          <p:cNvSpPr/>
          <p:nvPr/>
        </p:nvSpPr>
        <p:spPr>
          <a:xfrm>
            <a:off x="-367864" y="962585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644D96-FD1D-6065-53A8-3B03B276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Inserción de ADN </a:t>
            </a:r>
            <a:r>
              <a:rPr lang="es-ES_tradnl" sz="3200" dirty="0"/>
              <a:t>para estudiar proteínas</a:t>
            </a:r>
            <a:endParaRPr lang="es-ES_tradnl" sz="3200" noProof="0" dirty="0"/>
          </a:p>
        </p:txBody>
      </p:sp>
      <p:pic>
        <p:nvPicPr>
          <p:cNvPr id="5" name="Picture 4" descr="The baffling task of decoding unknown proteins | by Jithin S Sunny | Medium">
            <a:extLst>
              <a:ext uri="{FF2B5EF4-FFF2-40B4-BE49-F238E27FC236}">
                <a16:creationId xmlns:a16="http://schemas.microsoft.com/office/drawing/2014/main" id="{A22E3EC4-56BF-4806-FBA5-95E7718C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057" y="2228565"/>
            <a:ext cx="6523265" cy="3669337"/>
          </a:xfrm>
          <a:prstGeom prst="rect">
            <a:avLst/>
          </a:prstGeom>
        </p:spPr>
      </p:pic>
      <p:pic>
        <p:nvPicPr>
          <p:cNvPr id="6" name="Picture 5" descr="Proteína - Wikipedia, la enciclopedia libre">
            <a:extLst>
              <a:ext uri="{FF2B5EF4-FFF2-40B4-BE49-F238E27FC236}">
                <a16:creationId xmlns:a16="http://schemas.microsoft.com/office/drawing/2014/main" id="{24BA935A-A28A-2500-38A2-B1046519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943" y="1806745"/>
            <a:ext cx="1730358" cy="1751278"/>
          </a:xfrm>
          <a:prstGeom prst="rect">
            <a:avLst/>
          </a:prstGeom>
        </p:spPr>
      </p:pic>
      <p:pic>
        <p:nvPicPr>
          <p:cNvPr id="7" name="Picture 6" descr="Plasmids 101: What is a plasmid?">
            <a:extLst>
              <a:ext uri="{FF2B5EF4-FFF2-40B4-BE49-F238E27FC236}">
                <a16:creationId xmlns:a16="http://schemas.microsoft.com/office/drawing/2014/main" id="{6099057E-7E9F-F4F5-FFA5-BC3AADF69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28" y="1769521"/>
            <a:ext cx="1730358" cy="1730358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F468B1BE-8ECC-AE04-3FA2-360D456E9AF2}"/>
              </a:ext>
            </a:extLst>
          </p:cNvPr>
          <p:cNvSpPr/>
          <p:nvPr/>
        </p:nvSpPr>
        <p:spPr>
          <a:xfrm>
            <a:off x="8902169" y="2433419"/>
            <a:ext cx="936171" cy="40256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FC75BAB-4F1B-9541-8FED-55223AAE7100}"/>
              </a:ext>
            </a:extLst>
          </p:cNvPr>
          <p:cNvSpPr txBox="1">
            <a:spLocks/>
          </p:cNvSpPr>
          <p:nvPr/>
        </p:nvSpPr>
        <p:spPr>
          <a:xfrm>
            <a:off x="6525491" y="3916209"/>
            <a:ext cx="5805054" cy="4025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>
                <a:solidFill>
                  <a:schemeClr val="bg1"/>
                </a:solidFill>
              </a:rPr>
              <a:t>Niveles de Estudio: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3B86571-957A-B63B-1C38-1EFE64B34066}"/>
              </a:ext>
            </a:extLst>
          </p:cNvPr>
          <p:cNvSpPr txBox="1">
            <a:spLocks/>
          </p:cNvSpPr>
          <p:nvPr/>
        </p:nvSpPr>
        <p:spPr>
          <a:xfrm>
            <a:off x="6095998" y="1467362"/>
            <a:ext cx="2849498" cy="4025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>
                <a:solidFill>
                  <a:schemeClr val="bg1"/>
                </a:solidFill>
              </a:rPr>
              <a:t>Plásmido con Gen X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9E2FB7D-2A32-D340-D032-A47E2CE3F505}"/>
              </a:ext>
            </a:extLst>
          </p:cNvPr>
          <p:cNvSpPr txBox="1">
            <a:spLocks/>
          </p:cNvSpPr>
          <p:nvPr/>
        </p:nvSpPr>
        <p:spPr>
          <a:xfrm>
            <a:off x="9385373" y="1467362"/>
            <a:ext cx="2849498" cy="4025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>
                <a:solidFill>
                  <a:schemeClr val="bg1"/>
                </a:solidFill>
              </a:rPr>
              <a:t>Proteína X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AF2ABB-6D70-7594-6A0A-2F98053EBA6B}"/>
              </a:ext>
            </a:extLst>
          </p:cNvPr>
          <p:cNvSpPr/>
          <p:nvPr/>
        </p:nvSpPr>
        <p:spPr>
          <a:xfrm>
            <a:off x="7229306" y="4735100"/>
            <a:ext cx="1672863" cy="4025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In vivo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ABBF5F-9295-50B7-2643-D365EACF7528}"/>
              </a:ext>
            </a:extLst>
          </p:cNvPr>
          <p:cNvSpPr/>
          <p:nvPr/>
        </p:nvSpPr>
        <p:spPr>
          <a:xfrm>
            <a:off x="7229305" y="5389531"/>
            <a:ext cx="1672863" cy="4025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In </a:t>
            </a:r>
            <a:r>
              <a:rPr lang="en-US" i="1" dirty="0" err="1"/>
              <a:t>cellulo</a:t>
            </a:r>
            <a:endParaRPr lang="en-US" i="1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97002AC-3E82-1DF5-8B5B-734237B0BC35}"/>
              </a:ext>
            </a:extLst>
          </p:cNvPr>
          <p:cNvSpPr/>
          <p:nvPr/>
        </p:nvSpPr>
        <p:spPr>
          <a:xfrm>
            <a:off x="7229304" y="6011613"/>
            <a:ext cx="1672863" cy="4025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In vitro</a:t>
            </a:r>
          </a:p>
        </p:txBody>
      </p:sp>
    </p:spTree>
    <p:extLst>
      <p:ext uri="{BB962C8B-B14F-4D97-AF65-F5344CB8AC3E}">
        <p14:creationId xmlns:p14="http://schemas.microsoft.com/office/powerpoint/2010/main" val="177491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B2B2-4B1B-B7A6-2F5C-D3240818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2CBE66-A933-5171-F64E-E16271DDC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Componentes de un plásmido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0ECCFA-70C7-774D-B5F0-B63E7D17163F}"/>
              </a:ext>
            </a:extLst>
          </p:cNvPr>
          <p:cNvSpPr/>
          <p:nvPr/>
        </p:nvSpPr>
        <p:spPr>
          <a:xfrm>
            <a:off x="-3678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5312D-9396-D495-C28F-0D2FF8071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648" y="960927"/>
            <a:ext cx="7262446" cy="611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90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405B-878D-4238-0559-95FCDE71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E5A5-A41A-CA5E-118F-FE34C9E8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#3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28BD-9524-2E2E-E713-EEC8D517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13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13852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B0CE-2A88-F5C2-CF98-0AA5E20C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D6633D-25A0-1174-DC53-165E3737D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Componentes de un plásmido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7017A5-84FF-62FA-5C3B-968B0270DBC2}"/>
              </a:ext>
            </a:extLst>
          </p:cNvPr>
          <p:cNvSpPr/>
          <p:nvPr/>
        </p:nvSpPr>
        <p:spPr>
          <a:xfrm>
            <a:off x="-367862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13CF9-3501-0DDC-C8F0-285FBFA5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648" y="960927"/>
            <a:ext cx="7262446" cy="611151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4FE77D3-D584-4561-8EDF-05CF60A83AB7}"/>
              </a:ext>
            </a:extLst>
          </p:cNvPr>
          <p:cNvSpPr/>
          <p:nvPr/>
        </p:nvSpPr>
        <p:spPr>
          <a:xfrm>
            <a:off x="3378819" y="2330606"/>
            <a:ext cx="1204332" cy="1204332"/>
          </a:xfrm>
          <a:prstGeom prst="ellipse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50338F-1846-3778-3A08-6C1BBA189E69}"/>
              </a:ext>
            </a:extLst>
          </p:cNvPr>
          <p:cNvSpPr/>
          <p:nvPr/>
        </p:nvSpPr>
        <p:spPr>
          <a:xfrm>
            <a:off x="3007112" y="3534938"/>
            <a:ext cx="1204332" cy="1800791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4373A1-D8AD-0E1F-7C44-F7B329A03036}"/>
              </a:ext>
            </a:extLst>
          </p:cNvPr>
          <p:cNvSpPr/>
          <p:nvPr/>
        </p:nvSpPr>
        <p:spPr>
          <a:xfrm rot="18841379">
            <a:off x="6164106" y="4426361"/>
            <a:ext cx="3280930" cy="1800791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0EAC4-D164-52F8-8381-59AAE8AB86B5}"/>
              </a:ext>
            </a:extLst>
          </p:cNvPr>
          <p:cNvSpPr txBox="1"/>
          <p:nvPr/>
        </p:nvSpPr>
        <p:spPr>
          <a:xfrm>
            <a:off x="2686372" y="2145940"/>
            <a:ext cx="62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D008D-9545-BE6E-660D-66BCAA5E10D8}"/>
              </a:ext>
            </a:extLst>
          </p:cNvPr>
          <p:cNvSpPr txBox="1"/>
          <p:nvPr/>
        </p:nvSpPr>
        <p:spPr>
          <a:xfrm>
            <a:off x="147004" y="2140208"/>
            <a:ext cx="313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2"/>
                </a:solidFill>
              </a:rPr>
              <a:t>Origen de replicación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0E7AC-FAE3-EB92-0715-0A9ECAA41CD7}"/>
              </a:ext>
            </a:extLst>
          </p:cNvPr>
          <p:cNvSpPr txBox="1"/>
          <p:nvPr/>
        </p:nvSpPr>
        <p:spPr>
          <a:xfrm>
            <a:off x="2575931" y="5420682"/>
            <a:ext cx="13062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4"/>
                </a:solidFill>
              </a:rPr>
              <a:t>AmpR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E659-9769-2B16-E73E-60A84F15CE06}"/>
              </a:ext>
            </a:extLst>
          </p:cNvPr>
          <p:cNvSpPr txBox="1"/>
          <p:nvPr/>
        </p:nvSpPr>
        <p:spPr>
          <a:xfrm>
            <a:off x="-202312" y="5414950"/>
            <a:ext cx="304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2"/>
                </a:solidFill>
              </a:rPr>
              <a:t>Marcador de selección 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A2737-2A89-F8B6-046E-A920D9DA7B83}"/>
              </a:ext>
            </a:extLst>
          </p:cNvPr>
          <p:cNvSpPr txBox="1"/>
          <p:nvPr/>
        </p:nvSpPr>
        <p:spPr>
          <a:xfrm>
            <a:off x="8426327" y="5939129"/>
            <a:ext cx="7065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ORF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1995D-6D33-F986-EEC5-C2A377E8123D}"/>
              </a:ext>
            </a:extLst>
          </p:cNvPr>
          <p:cNvSpPr txBox="1"/>
          <p:nvPr/>
        </p:nvSpPr>
        <p:spPr>
          <a:xfrm>
            <a:off x="9027693" y="5925750"/>
            <a:ext cx="304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2"/>
                </a:solidFill>
              </a:rPr>
              <a:t>= Open Reading Frame</a:t>
            </a:r>
          </a:p>
        </p:txBody>
      </p:sp>
    </p:spTree>
    <p:extLst>
      <p:ext uri="{BB962C8B-B14F-4D97-AF65-F5344CB8AC3E}">
        <p14:creationId xmlns:p14="http://schemas.microsoft.com/office/powerpoint/2010/main" val="165863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3749-B37A-7AE1-A632-AD24452A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9132678-A242-7484-36F7-2526404470F7}"/>
              </a:ext>
            </a:extLst>
          </p:cNvPr>
          <p:cNvSpPr/>
          <p:nvPr/>
        </p:nvSpPr>
        <p:spPr>
          <a:xfrm>
            <a:off x="-291662" y="928567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54EDB2-2BDF-5658-2DE4-526644AAD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¿Software para manejo y edición?</a:t>
            </a:r>
          </a:p>
        </p:txBody>
      </p:sp>
      <p:pic>
        <p:nvPicPr>
          <p:cNvPr id="3" name="Picture 2" descr="ApE- A plasmid Editor">
            <a:extLst>
              <a:ext uri="{FF2B5EF4-FFF2-40B4-BE49-F238E27FC236}">
                <a16:creationId xmlns:a16="http://schemas.microsoft.com/office/drawing/2014/main" id="{B597FC59-0422-7636-529B-486D3C79F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91" y="2108650"/>
            <a:ext cx="1679039" cy="1888919"/>
          </a:xfrm>
          <a:prstGeom prst="rect">
            <a:avLst/>
          </a:prstGeom>
        </p:spPr>
      </p:pic>
      <p:pic>
        <p:nvPicPr>
          <p:cNvPr id="7" name="Picture 6" descr="Contribution | DTU-Denmark - iGEM 2025">
            <a:extLst>
              <a:ext uri="{FF2B5EF4-FFF2-40B4-BE49-F238E27FC236}">
                <a16:creationId xmlns:a16="http://schemas.microsoft.com/office/drawing/2014/main" id="{4BF8A6B4-785B-DC2F-AB35-5B97EDF3C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234" y="2313842"/>
            <a:ext cx="4487621" cy="1683727"/>
          </a:xfrm>
          <a:prstGeom prst="rect">
            <a:avLst/>
          </a:prstGeom>
        </p:spPr>
      </p:pic>
      <p:pic>
        <p:nvPicPr>
          <p:cNvPr id="8" name="Picture 7" descr="Benchling - YouTube">
            <a:extLst>
              <a:ext uri="{FF2B5EF4-FFF2-40B4-BE49-F238E27FC236}">
                <a16:creationId xmlns:a16="http://schemas.microsoft.com/office/drawing/2014/main" id="{9DCD15F4-B6DC-5921-143F-0517C50A0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211" y="2019300"/>
            <a:ext cx="1978269" cy="1978269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7DD6BA8-8683-94FF-BEB1-793A26986039}"/>
              </a:ext>
            </a:extLst>
          </p:cNvPr>
          <p:cNvSpPr txBox="1">
            <a:spLocks/>
          </p:cNvSpPr>
          <p:nvPr/>
        </p:nvSpPr>
        <p:spPr>
          <a:xfrm>
            <a:off x="144667" y="4562481"/>
            <a:ext cx="3382304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300" dirty="0">
                <a:solidFill>
                  <a:schemeClr val="bg1"/>
                </a:solidFill>
              </a:rPr>
              <a:t>De libre acceso;</a:t>
            </a:r>
          </a:p>
          <a:p>
            <a:r>
              <a:rPr lang="es-ES_tradnl" sz="1300" dirty="0">
                <a:solidFill>
                  <a:schemeClr val="bg1"/>
                </a:solidFill>
              </a:rPr>
              <a:t>Versátil y de fácil uso, pero presenta limitaciones frente a </a:t>
            </a:r>
            <a:r>
              <a:rPr lang="es-ES_tradnl" sz="1300" dirty="0" err="1">
                <a:solidFill>
                  <a:schemeClr val="bg1"/>
                </a:solidFill>
              </a:rPr>
              <a:t>SnapGene</a:t>
            </a:r>
            <a:endParaRPr lang="es-ES_tradnl" sz="1300" dirty="0">
              <a:solidFill>
                <a:schemeClr val="bg1"/>
              </a:solidFill>
            </a:endParaRPr>
          </a:p>
          <a:p>
            <a:r>
              <a:rPr lang="es-ES_tradnl" sz="1300" dirty="0">
                <a:solidFill>
                  <a:schemeClr val="bg1"/>
                </a:solidFill>
              </a:rPr>
              <a:t>Interfaz menos amigable a nuevos usuarios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A77BCA-09E3-6CE8-81F5-2663240649D0}"/>
              </a:ext>
            </a:extLst>
          </p:cNvPr>
          <p:cNvSpPr txBox="1">
            <a:spLocks/>
          </p:cNvSpPr>
          <p:nvPr/>
        </p:nvSpPr>
        <p:spPr>
          <a:xfrm>
            <a:off x="4355184" y="4562480"/>
            <a:ext cx="3688231" cy="13669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300" dirty="0">
                <a:solidFill>
                  <a:schemeClr val="bg1"/>
                </a:solidFill>
              </a:rPr>
              <a:t>Múltiples funciones de gran utilidad: Mutagénesis, Asistente de clonación y demás.</a:t>
            </a:r>
          </a:p>
          <a:p>
            <a:r>
              <a:rPr lang="es-ES_tradnl" sz="1300" dirty="0">
                <a:solidFill>
                  <a:schemeClr val="bg1"/>
                </a:solidFill>
              </a:rPr>
              <a:t>Software por excelencia en laboratorios a nivel mundial</a:t>
            </a:r>
          </a:p>
          <a:p>
            <a:r>
              <a:rPr lang="es-ES_tradnl" sz="1300" dirty="0">
                <a:solidFill>
                  <a:schemeClr val="bg1"/>
                </a:solidFill>
              </a:rPr>
              <a:t>Muy intuitivo y de fácil uso.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1D80DDE-6FD9-32D0-E07F-DAA336D94DBC}"/>
              </a:ext>
            </a:extLst>
          </p:cNvPr>
          <p:cNvSpPr txBox="1">
            <a:spLocks/>
          </p:cNvSpPr>
          <p:nvPr/>
        </p:nvSpPr>
        <p:spPr>
          <a:xfrm>
            <a:off x="8610486" y="4490512"/>
            <a:ext cx="3382304" cy="1132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300" dirty="0">
                <a:solidFill>
                  <a:schemeClr val="bg1"/>
                </a:solidFill>
              </a:rPr>
              <a:t>Manejo de secuencias</a:t>
            </a:r>
          </a:p>
          <a:p>
            <a:r>
              <a:rPr lang="es-ES_tradnl" sz="1300" dirty="0">
                <a:solidFill>
                  <a:schemeClr val="bg1"/>
                </a:solidFill>
              </a:rPr>
              <a:t>Registro de laboratorio</a:t>
            </a:r>
          </a:p>
          <a:p>
            <a:r>
              <a:rPr lang="es-ES_tradnl" sz="1300" dirty="0">
                <a:solidFill>
                  <a:schemeClr val="bg1"/>
                </a:solidFill>
              </a:rPr>
              <a:t>Elaboración de protocolos</a:t>
            </a:r>
          </a:p>
        </p:txBody>
      </p:sp>
    </p:spTree>
    <p:extLst>
      <p:ext uri="{BB962C8B-B14F-4D97-AF65-F5344CB8AC3E}">
        <p14:creationId xmlns:p14="http://schemas.microsoft.com/office/powerpoint/2010/main" val="1060242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CECA-6E1F-7B06-0566-090B1720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D8C34F0-A910-0147-3BA3-843861A45872}"/>
              </a:ext>
            </a:extLst>
          </p:cNvPr>
          <p:cNvSpPr/>
          <p:nvPr/>
        </p:nvSpPr>
        <p:spPr>
          <a:xfrm>
            <a:off x="-367862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2026-08-28 at 14.36.50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C32C79-58BF-68C4-8BC2-D85E645E3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¿Software para manejo y edición?</a:t>
            </a:r>
          </a:p>
        </p:txBody>
      </p:sp>
      <p:pic>
        <p:nvPicPr>
          <p:cNvPr id="3" name="Picture 2" descr="Contribution | DTU-Denmark - iGEM 2025">
            <a:extLst>
              <a:ext uri="{FF2B5EF4-FFF2-40B4-BE49-F238E27FC236}">
                <a16:creationId xmlns:a16="http://schemas.microsoft.com/office/drawing/2014/main" id="{D4E44AE0-C6C1-A3B4-8B0D-3490D635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3" y="1118570"/>
            <a:ext cx="2567354" cy="963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7764B5-1F37-5213-09A4-7DED4C5D0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6" y="2363226"/>
            <a:ext cx="5936513" cy="365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04CC02-F0AB-FACA-2132-2D23AFC23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190" y="2363226"/>
            <a:ext cx="5954810" cy="36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9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D336-ABAE-7E49-DE19-BABDB4D0D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553BF5-6F46-04D7-93DA-7D339A3605D6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D046B0-198C-F5CD-3CEF-AA99CAC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Alineación de secuencias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75B0A-5997-96D3-B961-2FE0CDC21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3" y="2728384"/>
            <a:ext cx="5211535" cy="29790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10604F-79B4-9068-AED0-8BB72EDCC5EE}"/>
              </a:ext>
            </a:extLst>
          </p:cNvPr>
          <p:cNvCxnSpPr>
            <a:cxnSpLocks/>
          </p:cNvCxnSpPr>
          <p:nvPr/>
        </p:nvCxnSpPr>
        <p:spPr>
          <a:xfrm flipH="1">
            <a:off x="1002576" y="2230457"/>
            <a:ext cx="1360713" cy="107952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CBB0645A-F0C3-6907-4390-36A177CA8041}"/>
              </a:ext>
            </a:extLst>
          </p:cNvPr>
          <p:cNvSpPr txBox="1">
            <a:spLocks/>
          </p:cNvSpPr>
          <p:nvPr/>
        </p:nvSpPr>
        <p:spPr>
          <a:xfrm>
            <a:off x="2428877" y="1984727"/>
            <a:ext cx="136071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Guia del día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2D9CF0-097A-C620-4706-E7B1F8786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63" y="2118106"/>
            <a:ext cx="5819809" cy="37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53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0D0C1-2F31-0E65-6863-8E2AC764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0843-C16B-FC27-F794-6DC86ACEC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466" y="282745"/>
            <a:ext cx="9956747" cy="1438780"/>
          </a:xfrm>
        </p:spPr>
        <p:txBody>
          <a:bodyPr/>
          <a:lstStyle/>
          <a:p>
            <a:r>
              <a:rPr lang="es-ES_tradnl" dirty="0"/>
              <a:t>Mini-proyectos por realizar…</a:t>
            </a:r>
            <a:endParaRPr lang="es-ES_trad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6CBEA-7FB4-BA27-DA2A-DDCC36EE4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1"/>
            <a:ext cx="11068484" cy="3870181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lphaUcPeriod"/>
            </a:pPr>
            <a:r>
              <a:rPr lang="es-ES_tradnl" sz="2000" b="1" i="1" dirty="0"/>
              <a:t>Elaboración de plásmidos para expresión y purificación de DENV2 sNS1</a:t>
            </a:r>
            <a:r>
              <a:rPr lang="es-ES_tradnl" sz="2000" dirty="0"/>
              <a:t>.</a:t>
            </a:r>
          </a:p>
          <a:p>
            <a:pPr marL="342900" indent="-342900">
              <a:buAutoNum type="alphaUcPeriod"/>
            </a:pPr>
            <a:r>
              <a:rPr lang="es-ES_tradnl" sz="2000" b="1" i="1" dirty="0"/>
              <a:t>Elaboración de plásmidos para estudio de la función de NAT10 y su relación con canceres hematológicos</a:t>
            </a:r>
            <a:r>
              <a:rPr lang="en-US" sz="2000" b="1" i="1" dirty="0"/>
              <a:t>.</a:t>
            </a:r>
          </a:p>
          <a:p>
            <a:pPr marL="342900" indent="-342900">
              <a:buAutoNum type="alphaUcPeriod"/>
            </a:pPr>
            <a:r>
              <a:rPr lang="es-ES_tradnl" sz="2000" b="1" i="1" dirty="0"/>
              <a:t>Elaboración de plásmidos para estudiar la localización de IRF9 durante la activación de la cascada de señales inflamatoria por agentes virales.</a:t>
            </a:r>
            <a:endParaRPr lang="en-US" sz="2000" b="1" i="1" dirty="0"/>
          </a:p>
          <a:p>
            <a:pPr marL="342900" indent="-342900">
              <a:buFont typeface="Arial" panose="020B0604020202020204" pitchFamily="34" charset="0"/>
              <a:buAutoNum type="alphaUcPeriod"/>
            </a:pPr>
            <a:r>
              <a:rPr lang="es-ES_tradnl" sz="2000" b="1" dirty="0"/>
              <a:t>Elaboración de plásmidos para estudiar mediante FRET la interacción entre KRAS y RAF1.</a:t>
            </a:r>
          </a:p>
          <a:p>
            <a:pPr marL="342900" indent="-342900">
              <a:buFont typeface="Arial" panose="020B0604020202020204" pitchFamily="34" charset="0"/>
              <a:buAutoNum type="alphaUcPeriod"/>
            </a:pPr>
            <a:r>
              <a:rPr lang="es-ES_tradnl" sz="2000" b="1" i="1" dirty="0"/>
              <a:t>Elaboración de plásmidos para identificar las regiones de BRCA1 responsables de su </a:t>
            </a:r>
            <a:r>
              <a:rPr lang="es-ES_tradnl" sz="2000" b="1" i="1" dirty="0" err="1"/>
              <a:t>interactoma</a:t>
            </a:r>
            <a:r>
              <a:rPr lang="es-ES_tradnl" sz="2000" dirty="0"/>
              <a:t>.</a:t>
            </a:r>
            <a:r>
              <a:rPr lang="en-US" sz="2000" dirty="0"/>
              <a:t> </a:t>
            </a:r>
          </a:p>
          <a:p>
            <a:pPr marL="342900" indent="-342900">
              <a:buAutoNum type="alphaUcPeriod"/>
            </a:pPr>
            <a:endParaRPr lang="es-ES_tradnl" sz="2000" dirty="0"/>
          </a:p>
          <a:p>
            <a:endParaRPr lang="es-ES_tradnl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C2516-8435-0C96-F67F-BD980BAC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18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128748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279D-DDEB-E53B-E4A7-96E043C6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408C-7175-2592-031B-28DEDC5D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466" y="282745"/>
            <a:ext cx="9956747" cy="1438780"/>
          </a:xfrm>
        </p:spPr>
        <p:txBody>
          <a:bodyPr/>
          <a:lstStyle/>
          <a:p>
            <a:r>
              <a:rPr lang="es-ES_tradnl" dirty="0"/>
              <a:t>Mini-proyectos por realizar…</a:t>
            </a:r>
            <a:endParaRPr lang="es-ES_trad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4B36-0943-4A0C-6CD9-9CEBD4C01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1"/>
            <a:ext cx="11068484" cy="3870181"/>
          </a:xfrm>
        </p:spPr>
        <p:txBody>
          <a:bodyPr>
            <a:normAutofit/>
          </a:bodyPr>
          <a:lstStyle/>
          <a:p>
            <a:r>
              <a:rPr lang="es-ES" sz="2000" u="sng" dirty="0"/>
              <a:t>Los grupos presentaran: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s-ES" sz="2000" dirty="0"/>
              <a:t>De manera breve, la pregunta que intentaran responder con el diseño experimental.</a:t>
            </a:r>
            <a:endParaRPr lang="en-US" sz="2000" dirty="0"/>
          </a:p>
          <a:p>
            <a:pPr lvl="0"/>
            <a:r>
              <a:rPr lang="es-ES" sz="2000" dirty="0"/>
              <a:t>Los plásmidos finales diseñados para responder la pregunta de investigación.</a:t>
            </a:r>
            <a:endParaRPr lang="en-US" sz="2000" dirty="0"/>
          </a:p>
          <a:p>
            <a:pPr lvl="0"/>
            <a:r>
              <a:rPr lang="es-ES" sz="2000" dirty="0"/>
              <a:t>Las secuencias de los oligonucleótidos que usaran para amplificar y ensamblar los plásmidos finales.</a:t>
            </a:r>
            <a:endParaRPr lang="en-US" sz="2000" dirty="0"/>
          </a:p>
          <a:p>
            <a:pPr marL="0" indent="0">
              <a:buNone/>
            </a:pPr>
            <a:endParaRPr lang="es-ES_tradnl" sz="2000" dirty="0"/>
          </a:p>
          <a:p>
            <a:endParaRPr lang="es-ES_tradnl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86A8-E5C9-428B-88EE-10825B11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19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63544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EDEA-66D3-059A-822B-46CBA90A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A8A3-1C53-9B13-5B1E-6C3CFD9E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#4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84DC2-9CEE-6788-4383-BD161674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20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146178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870C-3237-9EAE-3727-7B46C9B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2DCD0E-A53F-353A-09FB-576BCE487B36}"/>
              </a:ext>
            </a:extLst>
          </p:cNvPr>
          <p:cNvSpPr/>
          <p:nvPr/>
        </p:nvSpPr>
        <p:spPr>
          <a:xfrm>
            <a:off x="0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CCF11-1DAE-663B-1367-2FD9A93D1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La PCR como base para modificar ADN</a:t>
            </a:r>
            <a:endParaRPr lang="es-ES_tradnl" sz="3200" noProof="0" dirty="0"/>
          </a:p>
        </p:txBody>
      </p:sp>
      <p:pic>
        <p:nvPicPr>
          <p:cNvPr id="6" name="Picture 5" descr="Cuales son las diferencias entre PCR, RT PCR, qPCR y RT qPCR? - AllScience">
            <a:extLst>
              <a:ext uri="{FF2B5EF4-FFF2-40B4-BE49-F238E27FC236}">
                <a16:creationId xmlns:a16="http://schemas.microsoft.com/office/drawing/2014/main" id="{69A95BCE-74E2-C113-220E-4D776EF43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7" y="1048535"/>
            <a:ext cx="6015396" cy="5313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B972C5-2E12-321B-68A4-D967B6A5DBD1}"/>
              </a:ext>
            </a:extLst>
          </p:cNvPr>
          <p:cNvSpPr/>
          <p:nvPr/>
        </p:nvSpPr>
        <p:spPr>
          <a:xfrm>
            <a:off x="3135087" y="5177221"/>
            <a:ext cx="2045824" cy="3333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35171A-6315-C6A1-FB54-8EED6F552E3F}"/>
              </a:ext>
            </a:extLst>
          </p:cNvPr>
          <p:cNvSpPr/>
          <p:nvPr/>
        </p:nvSpPr>
        <p:spPr>
          <a:xfrm>
            <a:off x="909137" y="5789261"/>
            <a:ext cx="1743546" cy="3333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1DCCE0F-294B-F686-F564-E365D00AE19A}"/>
              </a:ext>
            </a:extLst>
          </p:cNvPr>
          <p:cNvSpPr txBox="1">
            <a:spLocks/>
          </p:cNvSpPr>
          <p:nvPr/>
        </p:nvSpPr>
        <p:spPr>
          <a:xfrm>
            <a:off x="7459905" y="2403539"/>
            <a:ext cx="4459952" cy="35013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400" b="1" dirty="0">
                <a:solidFill>
                  <a:schemeClr val="bg1"/>
                </a:solidFill>
              </a:rPr>
              <a:t>Los </a:t>
            </a:r>
            <a:r>
              <a:rPr lang="es-ES_tradnl" sz="1400" b="1" dirty="0" err="1">
                <a:solidFill>
                  <a:schemeClr val="bg1"/>
                </a:solidFill>
              </a:rPr>
              <a:t>primers</a:t>
            </a:r>
            <a:r>
              <a:rPr lang="es-ES_tradnl" sz="1400" b="1" dirty="0">
                <a:solidFill>
                  <a:schemeClr val="bg1"/>
                </a:solidFill>
              </a:rPr>
              <a:t> como herramientas para modificar ADN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400" b="1" dirty="0">
                <a:solidFill>
                  <a:schemeClr val="bg1"/>
                </a:solidFill>
              </a:rPr>
              <a:t>Un primer que no es 100% complementario con la plantilla de ADN sigue siendo funcional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400" b="1" dirty="0">
                <a:solidFill>
                  <a:schemeClr val="bg1"/>
                </a:solidFill>
              </a:rPr>
              <a:t>La dirección de replicación es 5’ a 3’, por ende, siempre y cuando el extremo 3’ sea complementario la PCR puede funcionar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76D5B1A-76EF-A18C-0871-E399F3C229BF}"/>
              </a:ext>
            </a:extLst>
          </p:cNvPr>
          <p:cNvSpPr txBox="1">
            <a:spLocks/>
          </p:cNvSpPr>
          <p:nvPr/>
        </p:nvSpPr>
        <p:spPr>
          <a:xfrm>
            <a:off x="7318390" y="1706163"/>
            <a:ext cx="4459952" cy="466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 dirty="0">
                <a:solidFill>
                  <a:schemeClr val="accent4"/>
                </a:solidFill>
              </a:rPr>
              <a:t>Los </a:t>
            </a:r>
            <a:r>
              <a:rPr lang="es-ES_tradnl" sz="1800" b="1" dirty="0" err="1">
                <a:solidFill>
                  <a:schemeClr val="accent4"/>
                </a:solidFill>
              </a:rPr>
              <a:t>primers</a:t>
            </a:r>
            <a:r>
              <a:rPr lang="es-ES_tradnl" sz="1800" b="1" dirty="0">
                <a:solidFill>
                  <a:schemeClr val="accent4"/>
                </a:solidFill>
              </a:rPr>
              <a:t> como base</a:t>
            </a:r>
          </a:p>
        </p:txBody>
      </p:sp>
    </p:spTree>
    <p:extLst>
      <p:ext uri="{BB962C8B-B14F-4D97-AF65-F5344CB8AC3E}">
        <p14:creationId xmlns:p14="http://schemas.microsoft.com/office/powerpoint/2010/main" val="13127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0D20-42D0-3947-7CB8-0C5EDFE4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1A65E09-F295-8BAA-F5AD-A6CB6DE99A63}"/>
              </a:ext>
            </a:extLst>
          </p:cNvPr>
          <p:cNvSpPr/>
          <p:nvPr/>
        </p:nvSpPr>
        <p:spPr>
          <a:xfrm>
            <a:off x="0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C7C927-E86B-FFBF-0D6A-13C8D4D44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La PCR como base para modificar ADN</a:t>
            </a:r>
            <a:endParaRPr lang="es-ES_tradnl" sz="32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3F188-2B59-3247-5D1E-F849CE4AB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36" y="1718127"/>
            <a:ext cx="9636578" cy="45794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377BCD-FB07-7633-AD2E-AEE21E8D5FAF}"/>
              </a:ext>
            </a:extLst>
          </p:cNvPr>
          <p:cNvSpPr/>
          <p:nvPr/>
        </p:nvSpPr>
        <p:spPr>
          <a:xfrm>
            <a:off x="981307" y="4616605"/>
            <a:ext cx="10838986" cy="19068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7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93ACB-2181-903A-3F8A-20AACB80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D62F7F-546D-F02A-3EE6-6D292E00D4CE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E1851C-0987-A548-B5AD-757F4EA41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Gibson </a:t>
            </a:r>
            <a:r>
              <a:rPr lang="es-ES_tradnl" sz="3200" noProof="0" dirty="0" err="1"/>
              <a:t>Assembly</a:t>
            </a:r>
            <a:r>
              <a:rPr lang="es-ES_tradnl" sz="3200" noProof="0" dirty="0"/>
              <a:t>: 2 </a:t>
            </a:r>
            <a:r>
              <a:rPr lang="es-ES_tradnl" sz="3200" noProof="0" dirty="0" err="1"/>
              <a:t>PCRs</a:t>
            </a:r>
            <a:r>
              <a:rPr lang="es-ES_tradnl" sz="3200" noProof="0" dirty="0"/>
              <a:t> y listo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ADDBC-EC51-CDBF-CE08-0E4F1288A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490" y="943062"/>
            <a:ext cx="9512763" cy="58591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F81037-C60E-78B3-9984-2F8BA637710F}"/>
              </a:ext>
            </a:extLst>
          </p:cNvPr>
          <p:cNvSpPr/>
          <p:nvPr/>
        </p:nvSpPr>
        <p:spPr>
          <a:xfrm>
            <a:off x="4393580" y="1559577"/>
            <a:ext cx="4059044" cy="1763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279B35-332C-D406-EC82-A7DA40014B70}"/>
              </a:ext>
            </a:extLst>
          </p:cNvPr>
          <p:cNvSpPr/>
          <p:nvPr/>
        </p:nvSpPr>
        <p:spPr>
          <a:xfrm>
            <a:off x="1672683" y="4190172"/>
            <a:ext cx="2810107" cy="26120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67FDF-F54A-8C58-14EC-75639F4C37D6}"/>
              </a:ext>
            </a:extLst>
          </p:cNvPr>
          <p:cNvSpPr/>
          <p:nvPr/>
        </p:nvSpPr>
        <p:spPr>
          <a:xfrm>
            <a:off x="4775028" y="4073651"/>
            <a:ext cx="2810107" cy="26120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1F823-E3C4-72E9-7301-4361ECA42FD4}"/>
              </a:ext>
            </a:extLst>
          </p:cNvPr>
          <p:cNvSpPr/>
          <p:nvPr/>
        </p:nvSpPr>
        <p:spPr>
          <a:xfrm>
            <a:off x="5999355" y="3573657"/>
            <a:ext cx="3256157" cy="499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56D4B2-09FD-EA4A-C769-912708069586}"/>
              </a:ext>
            </a:extLst>
          </p:cNvPr>
          <p:cNvSpPr/>
          <p:nvPr/>
        </p:nvSpPr>
        <p:spPr>
          <a:xfrm>
            <a:off x="9255512" y="2910474"/>
            <a:ext cx="1929934" cy="2029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3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DD41-B367-1578-6FF0-B3189628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D91768-BA84-5238-504A-CFB93C197185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1FCA5F-0884-58EB-0AB7-B94A91A41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de Gibson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350BF-F624-EB93-BC01-EF774A235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3" y="2728384"/>
            <a:ext cx="5211535" cy="29790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036452-EEA4-E863-DEA7-37A357B42E08}"/>
              </a:ext>
            </a:extLst>
          </p:cNvPr>
          <p:cNvCxnSpPr>
            <a:cxnSpLocks/>
          </p:cNvCxnSpPr>
          <p:nvPr/>
        </p:nvCxnSpPr>
        <p:spPr>
          <a:xfrm flipH="1">
            <a:off x="1002576" y="2230457"/>
            <a:ext cx="1360713" cy="107952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7F371EE7-6A8B-9715-E9DE-71EB7E787145}"/>
              </a:ext>
            </a:extLst>
          </p:cNvPr>
          <p:cNvSpPr txBox="1">
            <a:spLocks/>
          </p:cNvSpPr>
          <p:nvPr/>
        </p:nvSpPr>
        <p:spPr>
          <a:xfrm>
            <a:off x="2428877" y="1984727"/>
            <a:ext cx="136071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Guia del día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4D402B-7124-C324-0267-66C4640D6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63" y="2118106"/>
            <a:ext cx="5819809" cy="37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99082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9466</TotalTime>
  <Words>567</Words>
  <Application>Microsoft Macintosh PowerPoint</Application>
  <PresentationFormat>Widescreen</PresentationFormat>
  <Paragraphs>107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Neue Haas Grotesk Text Pro</vt:lpstr>
      <vt:lpstr>DylanVTI</vt:lpstr>
      <vt:lpstr>Clonación de plásmidos:</vt:lpstr>
      <vt:lpstr>MENTIMETER #1</vt:lpstr>
      <vt:lpstr>¿Clonación?</vt:lpstr>
      <vt:lpstr>¿ Clonación?</vt:lpstr>
      <vt:lpstr>¿ Clonación?</vt:lpstr>
      <vt:lpstr>¿ Clonación?</vt:lpstr>
      <vt:lpstr>¿Cómo los usamos?</vt:lpstr>
      <vt:lpstr>¿Cómo los usamos?</vt:lpstr>
      <vt:lpstr>MENTIMETER #2</vt:lpstr>
      <vt:lpstr>¿Por qué buscamos alterar el genoma?</vt:lpstr>
      <vt:lpstr>Inserción de ADN para estudiar proteínas</vt:lpstr>
      <vt:lpstr>Componentes de un plásmido</vt:lpstr>
      <vt:lpstr>MENTIMETER #3</vt:lpstr>
      <vt:lpstr>Componentes de un plásmido</vt:lpstr>
      <vt:lpstr>¿Software para manejo y edición?</vt:lpstr>
      <vt:lpstr>¿Software para manejo y edición?</vt:lpstr>
      <vt:lpstr>Alineación de secuencias</vt:lpstr>
      <vt:lpstr>Mini-proyectos por realizar…</vt:lpstr>
      <vt:lpstr>Mini-proyectos por realizar…</vt:lpstr>
      <vt:lpstr>MENTIMETER #4</vt:lpstr>
      <vt:lpstr>La PCR como base para modificar ADN</vt:lpstr>
      <vt:lpstr>La PCR como base para modificar ADN</vt:lpstr>
      <vt:lpstr>Gibson Assembly: 2 PCRs y listo</vt:lpstr>
      <vt:lpstr>Ejercicio de Gibson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Salazar Claros (PG Research)</dc:creator>
  <cp:lastModifiedBy>Rafael Salazar Claros (PG Research)</cp:lastModifiedBy>
  <cp:revision>3</cp:revision>
  <dcterms:created xsi:type="dcterms:W3CDTF">2026-07-12T11:22:02Z</dcterms:created>
  <dcterms:modified xsi:type="dcterms:W3CDTF">2026-09-20T03:50:02Z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2026-09-20T03:49:43Z</vt:lpwstr>
  </property>
  <property fmtid="{D5CDD505-2E9C-101B-9397-08002B2CF9AE}" pid="4" name="MSIP_Label_a618d1e0-f5d7-4da7-8ddd-3b83021a2c85_Method">
    <vt:lpwstr>Privileged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16e14d6f-550c-4aaa-94d0-fb1ae657051c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50, 0, 1, 1</vt:lpwstr>
  </property>
</Properties>
</file>